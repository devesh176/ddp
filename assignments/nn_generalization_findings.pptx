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a:t>
            </a:r>
            <a:r>
              <a:rPr b="0" lang="en-US" sz="2000" spc="-1" strike="noStrike">
                <a:solidFill>
                  <a:srgbClr val="000000"/>
                </a:solidFill>
                <a:latin typeface="Arial"/>
              </a:rPr>
              <a:t>l</a:t>
            </a:r>
            <a:r>
              <a:rPr b="0" lang="en-US" sz="2000" spc="-1" strike="noStrike">
                <a:solidFill>
                  <a:srgbClr val="000000"/>
                </a:solidFill>
                <a:latin typeface="Arial"/>
              </a:rPr>
              <a:t>i</a:t>
            </a:r>
            <a:r>
              <a:rPr b="0" lang="en-US" sz="2000" spc="-1" strike="noStrike">
                <a:solidFill>
                  <a:srgbClr val="000000"/>
                </a:solidFill>
                <a:latin typeface="Arial"/>
              </a:rPr>
              <a:t>c</a:t>
            </a:r>
            <a:r>
              <a:rPr b="0" lang="en-US" sz="2000" spc="-1" strike="noStrike">
                <a:solidFill>
                  <a:srgbClr val="000000"/>
                </a:solidFill>
                <a:latin typeface="Arial"/>
              </a:rPr>
              <a:t>k</a:t>
            </a:r>
            <a:r>
              <a:rPr b="0" lang="en-US" sz="2000" spc="-1" strike="noStrike">
                <a:solidFill>
                  <a:srgbClr val="000000"/>
                </a:solidFill>
                <a:latin typeface="Arial"/>
              </a:rPr>
              <a:t> </a:t>
            </a:r>
            <a:r>
              <a:rPr b="0" lang="en-US" sz="2000" spc="-1" strike="noStrike">
                <a:solidFill>
                  <a:srgbClr val="000000"/>
                </a:solidFill>
                <a:latin typeface="Arial"/>
              </a:rPr>
              <a:t>t</a:t>
            </a:r>
            <a:r>
              <a:rPr b="0" lang="en-US" sz="2000" spc="-1" strike="noStrike">
                <a:solidFill>
                  <a:srgbClr val="000000"/>
                </a:solidFill>
                <a:latin typeface="Arial"/>
              </a:rPr>
              <a:t>o</a:t>
            </a:r>
            <a:r>
              <a:rPr b="0" lang="en-US" sz="2000" spc="-1" strike="noStrike">
                <a:solidFill>
                  <a:srgbClr val="000000"/>
                </a:solidFill>
                <a:latin typeface="Arial"/>
              </a:rPr>
              <a:t> </a:t>
            </a:r>
            <a:r>
              <a:rPr b="0" lang="en-US" sz="2000" spc="-1" strike="noStrike">
                <a:solidFill>
                  <a:srgbClr val="000000"/>
                </a:solidFill>
                <a:latin typeface="Arial"/>
              </a:rPr>
              <a:t>e</a:t>
            </a:r>
            <a:r>
              <a:rPr b="0" lang="en-US" sz="2000" spc="-1" strike="noStrike">
                <a:solidFill>
                  <a:srgbClr val="000000"/>
                </a:solidFill>
                <a:latin typeface="Arial"/>
              </a:rPr>
              <a:t>d</a:t>
            </a:r>
            <a:r>
              <a:rPr b="0" lang="en-US" sz="2000" spc="-1" strike="noStrike">
                <a:solidFill>
                  <a:srgbClr val="000000"/>
                </a:solidFill>
                <a:latin typeface="Arial"/>
              </a:rPr>
              <a:t>i</a:t>
            </a:r>
            <a:r>
              <a:rPr b="0" lang="en-US" sz="2000" spc="-1" strike="noStrike">
                <a:solidFill>
                  <a:srgbClr val="000000"/>
                </a:solidFill>
                <a:latin typeface="Arial"/>
              </a:rPr>
              <a:t>t</a:t>
            </a:r>
            <a:r>
              <a:rPr b="0" lang="en-US" sz="2000" spc="-1" strike="noStrike">
                <a:solidFill>
                  <a:srgbClr val="000000"/>
                </a:solidFill>
                <a:latin typeface="Arial"/>
              </a:rPr>
              <a:t> </a:t>
            </a:r>
            <a:r>
              <a:rPr b="0" lang="en-US" sz="2000" spc="-1" strike="noStrike">
                <a:solidFill>
                  <a:srgbClr val="000000"/>
                </a:solidFill>
                <a:latin typeface="Arial"/>
              </a:rPr>
              <a:t>t</a:t>
            </a:r>
            <a:r>
              <a:rPr b="0" lang="en-US" sz="2000" spc="-1" strike="noStrike">
                <a:solidFill>
                  <a:srgbClr val="000000"/>
                </a:solidFill>
                <a:latin typeface="Arial"/>
              </a:rPr>
              <a:t>h</a:t>
            </a:r>
            <a:r>
              <a:rPr b="0" lang="en-US" sz="2000" spc="-1" strike="noStrike">
                <a:solidFill>
                  <a:srgbClr val="000000"/>
                </a:solidFill>
                <a:latin typeface="Arial"/>
              </a:rPr>
              <a:t>e</a:t>
            </a:r>
            <a:r>
              <a:rPr b="0" lang="en-US" sz="2000" spc="-1" strike="noStrike">
                <a:solidFill>
                  <a:srgbClr val="000000"/>
                </a:solidFill>
                <a:latin typeface="Arial"/>
              </a:rPr>
              <a:t> </a:t>
            </a:r>
            <a:r>
              <a:rPr b="0" lang="en-US" sz="2000" spc="-1" strike="noStrike">
                <a:solidFill>
                  <a:srgbClr val="000000"/>
                </a:solidFill>
                <a:latin typeface="Arial"/>
              </a:rPr>
              <a:t>n</a:t>
            </a:r>
            <a:r>
              <a:rPr b="0" lang="en-US" sz="2000" spc="-1" strike="noStrike">
                <a:solidFill>
                  <a:srgbClr val="000000"/>
                </a:solidFill>
                <a:latin typeface="Arial"/>
              </a:rPr>
              <a:t>o</a:t>
            </a:r>
            <a:r>
              <a:rPr b="0" lang="en-US" sz="2000" spc="-1" strike="noStrike">
                <a:solidFill>
                  <a:srgbClr val="000000"/>
                </a:solidFill>
                <a:latin typeface="Arial"/>
              </a:rPr>
              <a:t>t</a:t>
            </a:r>
            <a:r>
              <a:rPr b="0" lang="en-US" sz="2000" spc="-1" strike="noStrike">
                <a:solidFill>
                  <a:srgbClr val="000000"/>
                </a:solidFill>
                <a:latin typeface="Arial"/>
              </a:rPr>
              <a:t>e</a:t>
            </a:r>
            <a:r>
              <a:rPr b="0" lang="en-US" sz="2000" spc="-1" strike="noStrike">
                <a:solidFill>
                  <a:srgbClr val="000000"/>
                </a:solidFill>
                <a:latin typeface="Arial"/>
              </a:rPr>
              <a:t>s</a:t>
            </a:r>
            <a:r>
              <a:rPr b="0" lang="en-US" sz="2000" spc="-1" strike="noStrike">
                <a:solidFill>
                  <a:srgbClr val="000000"/>
                </a:solidFill>
                <a:latin typeface="Arial"/>
              </a:rPr>
              <a:t> </a:t>
            </a:r>
            <a:r>
              <a:rPr b="0" lang="en-US" sz="2000" spc="-1" strike="noStrike">
                <a:solidFill>
                  <a:srgbClr val="000000"/>
                </a:solidFill>
                <a:latin typeface="Arial"/>
              </a:rPr>
              <a:t>f</a:t>
            </a:r>
            <a:r>
              <a:rPr b="0" lang="en-US" sz="2000" spc="-1" strike="noStrike">
                <a:solidFill>
                  <a:srgbClr val="000000"/>
                </a:solidFill>
                <a:latin typeface="Arial"/>
              </a:rPr>
              <a:t>o</a:t>
            </a:r>
            <a:r>
              <a:rPr b="0" lang="en-US" sz="2000" spc="-1" strike="noStrike">
                <a:solidFill>
                  <a:srgbClr val="000000"/>
                </a:solidFill>
                <a:latin typeface="Arial"/>
              </a:rPr>
              <a:t>r</a:t>
            </a:r>
            <a:r>
              <a:rPr b="0" lang="en-US" sz="2000" spc="-1" strike="noStrike">
                <a:solidFill>
                  <a:srgbClr val="000000"/>
                </a:solidFill>
                <a:latin typeface="Arial"/>
              </a:rPr>
              <a:t>m</a:t>
            </a:r>
            <a:r>
              <a:rPr b="0" lang="en-US" sz="2000" spc="-1" strike="noStrike">
                <a:solidFill>
                  <a:srgbClr val="000000"/>
                </a:solidFill>
                <a:latin typeface="Arial"/>
              </a:rPr>
              <a:t>a</a:t>
            </a:r>
            <a:r>
              <a:rPr b="0" lang="en-US" sz="2000" spc="-1" strike="noStrike">
                <a:solidFill>
                  <a:srgbClr val="000000"/>
                </a:solidFill>
                <a:latin typeface="Arial"/>
              </a:rPr>
              <a:t>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B695DC84-569B-4A4A-B5B4-69082C322789}"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sldImg"/>
          </p:nvPr>
        </p:nvSpPr>
        <p:spPr>
          <a:xfrm>
            <a:off x="685800" y="1143000"/>
            <a:ext cx="5486040" cy="3085920"/>
          </a:xfrm>
          <a:prstGeom prst="rect">
            <a:avLst/>
          </a:prstGeom>
          <a:ln w="0">
            <a:noFill/>
          </a:ln>
        </p:spPr>
      </p:sp>
      <p:sp>
        <p:nvSpPr>
          <p:cNvPr id="11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12"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7FF9318-54B9-42C1-B0FF-FCF3DE814F7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sldImg"/>
          </p:nvPr>
        </p:nvSpPr>
        <p:spPr>
          <a:xfrm>
            <a:off x="685800" y="1143000"/>
            <a:ext cx="5486040" cy="3085920"/>
          </a:xfrm>
          <a:prstGeom prst="rect">
            <a:avLst/>
          </a:prstGeom>
          <a:ln w="0">
            <a:noFill/>
          </a:ln>
        </p:spPr>
      </p:sp>
      <p:sp>
        <p:nvSpPr>
          <p:cNvPr id="11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15"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EAF2EA6-4F6D-4EB0-AF87-F4F75169714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sldImg"/>
          </p:nvPr>
        </p:nvSpPr>
        <p:spPr>
          <a:xfrm>
            <a:off x="685800" y="1143000"/>
            <a:ext cx="5486040" cy="3085920"/>
          </a:xfrm>
          <a:prstGeom prst="rect">
            <a:avLst/>
          </a:prstGeom>
          <a:ln w="0">
            <a:noFill/>
          </a:ln>
        </p:spPr>
      </p:sp>
      <p:sp>
        <p:nvSpPr>
          <p:cNvPr id="11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18"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A0C543D-4EAD-44C8-9615-826BE114FCB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sldImg"/>
          </p:nvPr>
        </p:nvSpPr>
        <p:spPr>
          <a:xfrm>
            <a:off x="685800" y="1143000"/>
            <a:ext cx="5486040" cy="3085920"/>
          </a:xfrm>
          <a:prstGeom prst="rect">
            <a:avLst/>
          </a:prstGeom>
          <a:ln w="0">
            <a:noFill/>
          </a:ln>
        </p:spPr>
      </p:sp>
      <p:sp>
        <p:nvSpPr>
          <p:cNvPr id="12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21"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FDD2309-3311-45BB-9E31-D5426E35478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sldImg"/>
          </p:nvPr>
        </p:nvSpPr>
        <p:spPr>
          <a:xfrm>
            <a:off x="685800" y="1143000"/>
            <a:ext cx="5486040" cy="3085920"/>
          </a:xfrm>
          <a:prstGeom prst="rect">
            <a:avLst/>
          </a:prstGeom>
          <a:ln w="0">
            <a:noFill/>
          </a:ln>
        </p:spPr>
      </p:sp>
      <p:sp>
        <p:nvSpPr>
          <p:cNvPr id="12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24"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644B8F5-1554-4AF1-A43F-9344A293B4F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sldImg"/>
          </p:nvPr>
        </p:nvSpPr>
        <p:spPr>
          <a:xfrm>
            <a:off x="685800" y="1143000"/>
            <a:ext cx="5486040" cy="3085920"/>
          </a:xfrm>
          <a:prstGeom prst="rect">
            <a:avLst/>
          </a:prstGeom>
          <a:ln w="0">
            <a:noFill/>
          </a:ln>
        </p:spPr>
      </p:sp>
      <p:sp>
        <p:nvSpPr>
          <p:cNvPr id="12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27"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9FDD68F-5D43-429F-9ADE-965A215F7A7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sldImg"/>
          </p:nvPr>
        </p:nvSpPr>
        <p:spPr>
          <a:xfrm>
            <a:off x="685800" y="1143000"/>
            <a:ext cx="5486040" cy="3085920"/>
          </a:xfrm>
          <a:prstGeom prst="rect">
            <a:avLst/>
          </a:prstGeom>
          <a:ln w="0">
            <a:noFill/>
          </a:ln>
        </p:spPr>
      </p:sp>
      <p:sp>
        <p:nvSpPr>
          <p:cNvPr id="12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30"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9B98333-C292-42FB-BD68-4DFE34A4E8D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sldImg"/>
          </p:nvPr>
        </p:nvSpPr>
        <p:spPr>
          <a:xfrm>
            <a:off x="685800" y="1143000"/>
            <a:ext cx="5486040" cy="3085920"/>
          </a:xfrm>
          <a:prstGeom prst="rect">
            <a:avLst/>
          </a:prstGeom>
          <a:ln w="0">
            <a:noFill/>
          </a:ln>
        </p:spPr>
      </p:sp>
      <p:sp>
        <p:nvSpPr>
          <p:cNvPr id="13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33"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FF7724E-BC98-45CE-A7D0-B1F33403D33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sldImg"/>
          </p:nvPr>
        </p:nvSpPr>
        <p:spPr>
          <a:xfrm>
            <a:off x="685800" y="1143000"/>
            <a:ext cx="5486040" cy="3085920"/>
          </a:xfrm>
          <a:prstGeom prst="rect">
            <a:avLst/>
          </a:prstGeom>
          <a:ln w="0">
            <a:noFill/>
          </a:ln>
        </p:spPr>
      </p:sp>
      <p:sp>
        <p:nvSpPr>
          <p:cNvPr id="13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36"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E9BD847-8D90-4051-AF89-786BCB1CAF8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sldImg"/>
          </p:nvPr>
        </p:nvSpPr>
        <p:spPr>
          <a:xfrm>
            <a:off x="685800" y="1143000"/>
            <a:ext cx="5486040" cy="3085920"/>
          </a:xfrm>
          <a:prstGeom prst="rect">
            <a:avLst/>
          </a:prstGeom>
          <a:ln w="0">
            <a:noFill/>
          </a:ln>
        </p:spPr>
      </p:sp>
      <p:sp>
        <p:nvSpPr>
          <p:cNvPr id="13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39"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4454823-23D0-451C-859A-F269C285D09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a:t>
            </a:r>
            <a:r>
              <a:rPr b="0" lang="en-US" sz="1800" spc="-1" strike="noStrike">
                <a:solidFill>
                  <a:schemeClr val="dk1"/>
                </a:solidFill>
                <a:latin typeface="Calibri"/>
              </a:rPr>
              <a:t>li</a:t>
            </a:r>
            <a:r>
              <a:rPr b="0" lang="en-US" sz="1800" spc="-1" strike="noStrike">
                <a:solidFill>
                  <a:schemeClr val="dk1"/>
                </a:solidFill>
                <a:latin typeface="Calibri"/>
              </a:rPr>
              <a:t>c</a:t>
            </a:r>
            <a:r>
              <a:rPr b="0" lang="en-US" sz="1800" spc="-1" strike="noStrike">
                <a:solidFill>
                  <a:schemeClr val="dk1"/>
                </a:solidFill>
                <a:latin typeface="Calibri"/>
              </a:rPr>
              <a:t>k </a:t>
            </a:r>
            <a:r>
              <a:rPr b="0" lang="en-US" sz="1800" spc="-1" strike="noStrike">
                <a:solidFill>
                  <a:schemeClr val="dk1"/>
                </a:solidFill>
                <a:latin typeface="Calibri"/>
              </a:rPr>
              <a:t>t</a:t>
            </a:r>
            <a:r>
              <a:rPr b="0" lang="en-US" sz="1800" spc="-1" strike="noStrike">
                <a:solidFill>
                  <a:schemeClr val="dk1"/>
                </a:solidFill>
                <a:latin typeface="Calibri"/>
              </a:rPr>
              <a:t>o</a:t>
            </a:r>
            <a:r>
              <a:rPr b="0" lang="en-US" sz="1800" spc="-1" strike="noStrike">
                <a:solidFill>
                  <a:schemeClr val="dk1"/>
                </a:solidFill>
                <a:latin typeface="Calibri"/>
              </a:rPr>
              <a:t> </a:t>
            </a:r>
            <a:r>
              <a:rPr b="0" lang="en-US" sz="1800" spc="-1" strike="noStrike">
                <a:solidFill>
                  <a:schemeClr val="dk1"/>
                </a:solidFill>
                <a:latin typeface="Calibri"/>
              </a:rPr>
              <a:t>e</a:t>
            </a:r>
            <a:r>
              <a:rPr b="0" lang="en-US" sz="1800" spc="-1" strike="noStrike">
                <a:solidFill>
                  <a:schemeClr val="dk1"/>
                </a:solidFill>
                <a:latin typeface="Calibri"/>
              </a:rPr>
              <a:t>d</a:t>
            </a:r>
            <a:r>
              <a:rPr b="0" lang="en-US" sz="1800" spc="-1" strike="noStrike">
                <a:solidFill>
                  <a:schemeClr val="dk1"/>
                </a:solidFill>
                <a:latin typeface="Calibri"/>
              </a:rPr>
              <a:t>i</a:t>
            </a:r>
            <a:r>
              <a:rPr b="0" lang="en-US" sz="1800" spc="-1" strike="noStrike">
                <a:solidFill>
                  <a:schemeClr val="dk1"/>
                </a:solidFill>
                <a:latin typeface="Calibri"/>
              </a:rPr>
              <a:t>t </a:t>
            </a:r>
            <a:r>
              <a:rPr b="0" lang="en-US" sz="1800" spc="-1" strike="noStrike">
                <a:solidFill>
                  <a:schemeClr val="dk1"/>
                </a:solidFill>
                <a:latin typeface="Calibri"/>
              </a:rPr>
              <a:t>t</a:t>
            </a:r>
            <a:r>
              <a:rPr b="0" lang="en-US" sz="1800" spc="-1" strike="noStrike">
                <a:solidFill>
                  <a:schemeClr val="dk1"/>
                </a:solidFill>
                <a:latin typeface="Calibri"/>
              </a:rPr>
              <a:t>h</a:t>
            </a:r>
            <a:r>
              <a:rPr b="0" lang="en-US" sz="1800" spc="-1" strike="noStrike">
                <a:solidFill>
                  <a:schemeClr val="dk1"/>
                </a:solidFill>
                <a:latin typeface="Calibri"/>
              </a:rPr>
              <a:t>e </a:t>
            </a:r>
            <a:r>
              <a:rPr b="0" lang="en-US" sz="1800" spc="-1" strike="noStrike">
                <a:solidFill>
                  <a:schemeClr val="dk1"/>
                </a:solidFill>
                <a:latin typeface="Calibri"/>
              </a:rPr>
              <a:t>t</a:t>
            </a:r>
            <a:r>
              <a:rPr b="0" lang="en-US" sz="1800" spc="-1" strike="noStrike">
                <a:solidFill>
                  <a:schemeClr val="dk1"/>
                </a:solidFill>
                <a:latin typeface="Calibri"/>
              </a:rPr>
              <a:t>i</a:t>
            </a:r>
            <a:r>
              <a:rPr b="0" lang="en-US" sz="1800" spc="-1" strike="noStrike">
                <a:solidFill>
                  <a:schemeClr val="dk1"/>
                </a:solidFill>
                <a:latin typeface="Calibri"/>
              </a:rPr>
              <a:t>t</a:t>
            </a:r>
            <a:r>
              <a:rPr b="0" lang="en-US" sz="1800" spc="-1" strike="noStrike">
                <a:solidFill>
                  <a:schemeClr val="dk1"/>
                </a:solidFill>
                <a:latin typeface="Calibri"/>
              </a:rPr>
              <a:t>l</a:t>
            </a:r>
            <a:r>
              <a:rPr b="0" lang="en-US" sz="1800" spc="-1" strike="noStrike">
                <a:solidFill>
                  <a:schemeClr val="dk1"/>
                </a:solidFill>
                <a:latin typeface="Calibri"/>
              </a:rPr>
              <a:t>e </a:t>
            </a:r>
            <a:r>
              <a:rPr b="0" lang="en-US" sz="1800" spc="-1" strike="noStrike">
                <a:solidFill>
                  <a:schemeClr val="dk1"/>
                </a:solidFill>
                <a:latin typeface="Calibri"/>
              </a:rPr>
              <a:t>t</a:t>
            </a:r>
            <a:r>
              <a:rPr b="0" lang="en-US" sz="1800" spc="-1" strike="noStrike">
                <a:solidFill>
                  <a:schemeClr val="dk1"/>
                </a:solidFill>
                <a:latin typeface="Calibri"/>
              </a:rPr>
              <a:t>e</a:t>
            </a:r>
            <a:r>
              <a:rPr b="0" lang="en-US" sz="1800" spc="-1" strike="noStrike">
                <a:solidFill>
                  <a:schemeClr val="dk1"/>
                </a:solidFill>
                <a:latin typeface="Calibri"/>
              </a:rPr>
              <a:t>x</a:t>
            </a:r>
            <a:r>
              <a:rPr b="0" lang="en-US" sz="1800" spc="-1" strike="noStrike">
                <a:solidFill>
                  <a:schemeClr val="dk1"/>
                </a:solidFill>
                <a:latin typeface="Calibri"/>
              </a:rPr>
              <a:t>t </a:t>
            </a:r>
            <a:r>
              <a:rPr b="0" lang="en-US" sz="1800" spc="-1" strike="noStrike">
                <a:solidFill>
                  <a:schemeClr val="dk1"/>
                </a:solidFill>
                <a:latin typeface="Calibri"/>
              </a:rPr>
              <a:t>f</a:t>
            </a:r>
            <a:r>
              <a:rPr b="0" lang="en-US" sz="1800" spc="-1" strike="noStrike">
                <a:solidFill>
                  <a:schemeClr val="dk1"/>
                </a:solidFill>
                <a:latin typeface="Calibri"/>
              </a:rPr>
              <a:t>o</a:t>
            </a:r>
            <a:r>
              <a:rPr b="0" lang="en-US" sz="1800" spc="-1" strike="noStrike">
                <a:solidFill>
                  <a:schemeClr val="dk1"/>
                </a:solidFill>
                <a:latin typeface="Calibri"/>
              </a:rPr>
              <a:t>r</a:t>
            </a:r>
            <a:r>
              <a:rPr b="0" lang="en-US" sz="1800" spc="-1" strike="noStrike">
                <a:solidFill>
                  <a:schemeClr val="dk1"/>
                </a:solidFill>
                <a:latin typeface="Calibri"/>
              </a:rPr>
              <a:t>m</a:t>
            </a:r>
            <a:r>
              <a:rPr b="0" lang="en-US" sz="1800" spc="-1" strike="noStrike">
                <a:solidFill>
                  <a:schemeClr val="dk1"/>
                </a:solidFill>
                <a:latin typeface="Calibri"/>
              </a:rPr>
              <a:t>a</a:t>
            </a:r>
            <a:r>
              <a:rPr b="0" lang="en-US" sz="1800" spc="-1" strike="noStrike">
                <a:solidFill>
                  <a:schemeClr val="dk1"/>
                </a:solidFill>
                <a:latin typeface="Calibri"/>
              </a:rPr>
              <a:t>t</a:t>
            </a:r>
            <a:endParaRPr b="0" lang="en-US" sz="1800" spc="-1" strike="noStrike">
              <a:solidFill>
                <a:schemeClr val="dk1"/>
              </a:solidFill>
              <a:latin typeface="Calibri"/>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2a4a"/>
        </a:solidFill>
      </p:bgPr>
    </p:bg>
    <p:spTree>
      <p:nvGrpSpPr>
        <p:cNvPr id="1" name=""/>
        <p:cNvGrpSpPr/>
        <p:nvPr/>
      </p:nvGrpSpPr>
      <p:grpSpPr>
        <a:xfrm>
          <a:off x="0" y="0"/>
          <a:ext cx="0" cy="0"/>
          <a:chOff x="0" y="0"/>
          <a:chExt cx="0" cy="0"/>
        </a:xfrm>
      </p:grpSpPr>
      <p:sp>
        <p:nvSpPr>
          <p:cNvPr id="8" name="Shape 0"/>
          <p:cNvSpPr/>
          <p:nvPr/>
        </p:nvSpPr>
        <p:spPr>
          <a:xfrm>
            <a:off x="-1371600" y="-1463040"/>
            <a:ext cx="3840120" cy="3840120"/>
          </a:xfrm>
          <a:prstGeom prst="ellipse">
            <a:avLst/>
          </a:prstGeom>
          <a:solidFill>
            <a:srgbClr val="121d3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 name="Shape 1"/>
          <p:cNvSpPr/>
          <p:nvPr/>
        </p:nvSpPr>
        <p:spPr>
          <a:xfrm>
            <a:off x="10058400" y="4754880"/>
            <a:ext cx="3657240" cy="3657240"/>
          </a:xfrm>
          <a:prstGeom prst="ellipse">
            <a:avLst/>
          </a:prstGeom>
          <a:solidFill>
            <a:srgbClr val="121d3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 name="Text 2"/>
          <p:cNvSpPr/>
          <p:nvPr/>
        </p:nvSpPr>
        <p:spPr>
          <a:xfrm>
            <a:off x="822960" y="457200"/>
            <a:ext cx="10058040" cy="594000"/>
          </a:xfrm>
          <a:prstGeom prst="rect">
            <a:avLst/>
          </a:prstGeom>
          <a:noFill/>
          <a:ln w="0">
            <a:no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11" name="Text 4"/>
          <p:cNvSpPr/>
          <p:nvPr/>
        </p:nvSpPr>
        <p:spPr>
          <a:xfrm>
            <a:off x="822960" y="1252800"/>
            <a:ext cx="310680" cy="310680"/>
          </a:xfrm>
          <a:prstGeom prst="rect">
            <a:avLst/>
          </a:prstGeom>
          <a:noFill/>
          <a:ln w="0">
            <a:no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12" name="Text 5"/>
          <p:cNvSpPr/>
          <p:nvPr/>
        </p:nvSpPr>
        <p:spPr>
          <a:xfrm>
            <a:off x="1353240" y="1143000"/>
            <a:ext cx="10012320" cy="776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8000"/>
              </a:lnSpc>
              <a:tabLst>
                <a:tab algn="l" pos="0"/>
              </a:tabLst>
            </a:pPr>
            <a:r>
              <a:rPr b="0" lang="en-US" sz="1250" spc="-1" strike="noStrike">
                <a:solidFill>
                  <a:srgbClr val="d8e8f5"/>
                </a:solidFill>
                <a:latin typeface="Calibri"/>
                <a:ea typeface="Calibri"/>
              </a:rPr>
              <a:t>.</a:t>
            </a:r>
            <a:endParaRPr b="0" lang="en-US" sz="1250" spc="-1" strike="noStrike">
              <a:solidFill>
                <a:srgbClr val="ffffff"/>
              </a:solidFill>
              <a:latin typeface="Arial"/>
            </a:endParaRPr>
          </a:p>
        </p:txBody>
      </p:sp>
      <p:sp>
        <p:nvSpPr>
          <p:cNvPr id="13" name="Text 7"/>
          <p:cNvSpPr/>
          <p:nvPr/>
        </p:nvSpPr>
        <p:spPr>
          <a:xfrm>
            <a:off x="822960" y="2121480"/>
            <a:ext cx="310680" cy="310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50" spc="-1" strike="noStrike">
                <a:solidFill>
                  <a:srgbClr val="121d33"/>
                </a:solidFill>
                <a:latin typeface="Calibri"/>
                <a:ea typeface="Calibri"/>
              </a:rPr>
              <a:t>2</a:t>
            </a:r>
            <a:endParaRPr b="0" lang="en-US" sz="1250" spc="-1" strike="noStrike">
              <a:solidFill>
                <a:srgbClr val="ffffff"/>
              </a:solidFill>
              <a:latin typeface="Arial"/>
            </a:endParaRPr>
          </a:p>
        </p:txBody>
      </p:sp>
      <p:sp>
        <p:nvSpPr>
          <p:cNvPr id="14" name="Text 8"/>
          <p:cNvSpPr/>
          <p:nvPr/>
        </p:nvSpPr>
        <p:spPr>
          <a:xfrm>
            <a:off x="1353240" y="2011680"/>
            <a:ext cx="10012320" cy="776880"/>
          </a:xfrm>
          <a:prstGeom prst="rect">
            <a:avLst/>
          </a:prstGeom>
          <a:noFill/>
          <a:ln w="0">
            <a:no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15" name="Text 10"/>
          <p:cNvSpPr/>
          <p:nvPr/>
        </p:nvSpPr>
        <p:spPr>
          <a:xfrm>
            <a:off x="822960" y="2990160"/>
            <a:ext cx="310680" cy="310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50" spc="-1" strike="noStrike">
                <a:solidFill>
                  <a:srgbClr val="121d33"/>
                </a:solidFill>
                <a:latin typeface="Calibri"/>
                <a:ea typeface="Calibri"/>
              </a:rPr>
              <a:t>3</a:t>
            </a:r>
            <a:endParaRPr b="0" lang="en-US" sz="1250" spc="-1" strike="noStrike">
              <a:solidFill>
                <a:srgbClr val="ffffff"/>
              </a:solidFill>
              <a:latin typeface="Arial"/>
            </a:endParaRPr>
          </a:p>
        </p:txBody>
      </p:sp>
      <p:sp>
        <p:nvSpPr>
          <p:cNvPr id="16" name="Text 11"/>
          <p:cNvSpPr/>
          <p:nvPr/>
        </p:nvSpPr>
        <p:spPr>
          <a:xfrm>
            <a:off x="1353240" y="2880360"/>
            <a:ext cx="10012320" cy="776880"/>
          </a:xfrm>
          <a:prstGeom prst="rect">
            <a:avLst/>
          </a:prstGeom>
          <a:noFill/>
          <a:ln w="0">
            <a:no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17" name="Text 13"/>
          <p:cNvSpPr/>
          <p:nvPr/>
        </p:nvSpPr>
        <p:spPr>
          <a:xfrm>
            <a:off x="822960" y="3858840"/>
            <a:ext cx="310680" cy="310680"/>
          </a:xfrm>
          <a:prstGeom prst="rect">
            <a:avLst/>
          </a:prstGeom>
          <a:noFill/>
          <a:ln w="0">
            <a:no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18" name="Text 14"/>
          <p:cNvSpPr/>
          <p:nvPr/>
        </p:nvSpPr>
        <p:spPr>
          <a:xfrm>
            <a:off x="1353240" y="3749040"/>
            <a:ext cx="10012320" cy="776880"/>
          </a:xfrm>
          <a:prstGeom prst="rect">
            <a:avLst/>
          </a:prstGeom>
          <a:noFill/>
          <a:ln w="0">
            <a:no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19" name="Text 17"/>
          <p:cNvSpPr/>
          <p:nvPr/>
        </p:nvSpPr>
        <p:spPr>
          <a:xfrm>
            <a:off x="1353240" y="4617720"/>
            <a:ext cx="10012320" cy="776880"/>
          </a:xfrm>
          <a:prstGeom prst="rect">
            <a:avLst/>
          </a:prstGeom>
          <a:noFill/>
          <a:ln w="0">
            <a:no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20" name="Text 20"/>
          <p:cNvSpPr/>
          <p:nvPr/>
        </p:nvSpPr>
        <p:spPr>
          <a:xfrm>
            <a:off x="1353240" y="5486400"/>
            <a:ext cx="10012320" cy="776880"/>
          </a:xfrm>
          <a:prstGeom prst="rect">
            <a:avLst/>
          </a:prstGeom>
          <a:noFill/>
          <a:ln w="0">
            <a:no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21" name=""/>
          <p:cNvSpPr txBox="1"/>
          <p:nvPr/>
        </p:nvSpPr>
        <p:spPr>
          <a:xfrm>
            <a:off x="3657600" y="2514600"/>
            <a:ext cx="5257800" cy="1371600"/>
          </a:xfrm>
          <a:prstGeom prst="rect">
            <a:avLst/>
          </a:prstGeom>
          <a:noFill/>
          <a:ln w="0">
            <a:noFill/>
          </a:ln>
        </p:spPr>
        <p:txBody>
          <a:bodyPr lIns="90000" rIns="90000" tIns="45000" bIns="45000" anchor="t">
            <a:noAutofit/>
          </a:bodyPr>
          <a:p>
            <a:r>
              <a:rPr b="1" lang="en-US" sz="1800" spc="-1" strike="noStrike">
                <a:solidFill>
                  <a:srgbClr val="ffffff"/>
                </a:solidFill>
                <a:latin typeface="Arial"/>
              </a:rPr>
              <a:t>Thank You</a:t>
            </a:r>
            <a:endParaRPr b="1"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c"/>
        </a:solidFill>
      </p:bgPr>
    </p:bg>
    <p:spTree>
      <p:nvGrpSpPr>
        <p:cNvPr id="1" name=""/>
        <p:cNvGrpSpPr/>
        <p:nvPr/>
      </p:nvGrpSpPr>
      <p:grpSpPr>
        <a:xfrm>
          <a:off x="0" y="0"/>
          <a:ext cx="0" cy="0"/>
          <a:chOff x="0" y="0"/>
          <a:chExt cx="0" cy="0"/>
        </a:xfrm>
      </p:grpSpPr>
      <p:sp>
        <p:nvSpPr>
          <p:cNvPr id="22" name="Text 0"/>
          <p:cNvSpPr/>
          <p:nvPr/>
        </p:nvSpPr>
        <p:spPr>
          <a:xfrm>
            <a:off x="548640" y="411480"/>
            <a:ext cx="11063880" cy="63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1b2a4a"/>
                </a:solidFill>
                <a:latin typeface="Cambria"/>
                <a:ea typeface="Cambria"/>
              </a:rPr>
              <a:t>Experiment Setup</a:t>
            </a:r>
            <a:endParaRPr b="0" lang="en-US" sz="2800" spc="-1" strike="noStrike">
              <a:solidFill>
                <a:srgbClr val="000000"/>
              </a:solidFill>
              <a:latin typeface="Arial"/>
            </a:endParaRPr>
          </a:p>
        </p:txBody>
      </p:sp>
      <p:sp>
        <p:nvSpPr>
          <p:cNvPr id="23" name="Text 1"/>
          <p:cNvSpPr/>
          <p:nvPr/>
        </p:nvSpPr>
        <p:spPr>
          <a:xfrm>
            <a:off x="548640" y="1005840"/>
            <a:ext cx="1106388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20000"/>
              </a:lnSpc>
              <a:spcBef>
                <a:spcPts val="1191"/>
              </a:spcBef>
              <a:spcAft>
                <a:spcPts val="992"/>
              </a:spcAft>
              <a:tabLst>
                <a:tab algn="l" pos="0"/>
              </a:tabLst>
            </a:pPr>
            <a:r>
              <a:rPr b="0" lang="en-US" sz="1300" spc="-1" strike="noStrike">
                <a:solidFill>
                  <a:srgbClr val="3a3f4b"/>
                </a:solidFill>
                <a:latin typeface="Calibri"/>
                <a:ea typeface="Calibri"/>
              </a:rPr>
              <a:t>Every one of the 10 activation functions {</a:t>
            </a:r>
            <a:r>
              <a:rPr b="1" lang="en-US" sz="1300" spc="-1" strike="noStrike">
                <a:solidFill>
                  <a:srgbClr val="3a3f4b"/>
                </a:solidFill>
                <a:latin typeface="Calibri"/>
                <a:ea typeface="Calibri"/>
              </a:rPr>
              <a:t>ACTIVATIONS = ['ReLU', 'sigmoid', 'tanh', 'leaky_ReLU', 'softmax', 'linear', 'ELU', 'SELU', 'GELU', 'swish'</a:t>
            </a:r>
            <a:r>
              <a:rPr b="0" lang="en-US" sz="1300" spc="-1" strike="noStrike">
                <a:solidFill>
                  <a:srgbClr val="3a3f4b"/>
                </a:solidFill>
                <a:latin typeface="Calibri"/>
                <a:ea typeface="Calibri"/>
              </a:rPr>
              <a:t>]} is trained from the same seed, on the same data, with the same hyperparameters, with nn(n_layers=1), matching the original shallow-network comparison.</a:t>
            </a:r>
            <a:endParaRPr b="0" lang="en-US" sz="1300" spc="-1" strike="noStrike">
              <a:solidFill>
                <a:srgbClr val="000000"/>
              </a:solidFill>
              <a:latin typeface="Arial"/>
            </a:endParaRPr>
          </a:p>
        </p:txBody>
      </p:sp>
      <p:sp>
        <p:nvSpPr>
          <p:cNvPr id="24" name="Shape 2"/>
          <p:cNvSpPr/>
          <p:nvPr/>
        </p:nvSpPr>
        <p:spPr>
          <a:xfrm>
            <a:off x="548640" y="1783080"/>
            <a:ext cx="5348880" cy="4297320"/>
          </a:xfrm>
          <a:prstGeom prst="roundRect">
            <a:avLst>
              <a:gd name="adj" fmla="val 2553"/>
            </a:avLst>
          </a:prstGeom>
          <a:solidFill>
            <a:srgbClr val="ffffff"/>
          </a:solidFill>
          <a:ln w="12700">
            <a:solidFill>
              <a:srgbClr val="e1e7f0"/>
            </a:solidFill>
            <a:round/>
          </a:ln>
          <a:effectLst>
            <a:outerShdw algn="bl" blurRad="127080" dir="5400000" dist="38160" kx="0" ky="0" rotWithShape="0" sx="100000" sy="100000">
              <a:srgbClr val="1b2a4a">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 name="Shape 3"/>
          <p:cNvSpPr/>
          <p:nvPr/>
        </p:nvSpPr>
        <p:spPr>
          <a:xfrm>
            <a:off x="868680" y="2103120"/>
            <a:ext cx="4708800" cy="822600"/>
          </a:xfrm>
          <a:prstGeom prst="roundRect">
            <a:avLst>
              <a:gd name="adj" fmla="val 11111"/>
            </a:avLst>
          </a:prstGeom>
          <a:solidFill>
            <a:srgbClr val="1b2a4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 name="Text 4"/>
          <p:cNvSpPr/>
          <p:nvPr/>
        </p:nvSpPr>
        <p:spPr>
          <a:xfrm>
            <a:off x="868680" y="2103120"/>
            <a:ext cx="4708800" cy="822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1700" spc="-1" strike="noStrike">
                <a:solidFill>
                  <a:srgbClr val="ffffff"/>
                </a:solidFill>
                <a:latin typeface="Cambria"/>
                <a:ea typeface="Cambria"/>
              </a:rPr>
              <a:t>f(x) = sin(x) + 0.5·cos(2x)</a:t>
            </a:r>
            <a:endParaRPr b="0" lang="en-US" sz="1700" spc="-1" strike="noStrike">
              <a:solidFill>
                <a:srgbClr val="000000"/>
              </a:solidFill>
              <a:latin typeface="Arial"/>
            </a:endParaRPr>
          </a:p>
        </p:txBody>
      </p:sp>
      <p:sp>
        <p:nvSpPr>
          <p:cNvPr id="27" name="Text 5"/>
          <p:cNvSpPr/>
          <p:nvPr/>
        </p:nvSpPr>
        <p:spPr>
          <a:xfrm>
            <a:off x="868680" y="3063240"/>
            <a:ext cx="470880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c97a16"/>
                </a:solidFill>
                <a:latin typeface="Calibri"/>
                <a:ea typeface="Calibri"/>
              </a:rPr>
              <a:t>1D Task — Curve Fitting</a:t>
            </a:r>
            <a:endParaRPr b="0" lang="en-US" sz="1500" spc="-1" strike="noStrike">
              <a:solidFill>
                <a:srgbClr val="000000"/>
              </a:solidFill>
              <a:latin typeface="Arial"/>
            </a:endParaRPr>
          </a:p>
        </p:txBody>
      </p:sp>
      <p:sp>
        <p:nvSpPr>
          <p:cNvPr id="28" name="Text 6"/>
          <p:cNvSpPr/>
          <p:nvPr/>
        </p:nvSpPr>
        <p:spPr>
          <a:xfrm>
            <a:off x="868680" y="3474720"/>
            <a:ext cx="470880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1b2a4a"/>
                </a:solidFill>
                <a:latin typeface="Calibri"/>
                <a:ea typeface="Calibri"/>
              </a:rPr>
              <a:t>Domain:  </a:t>
            </a:r>
            <a:r>
              <a:rPr b="0" lang="en-US" sz="1250" spc="-1" strike="noStrike">
                <a:solidFill>
                  <a:srgbClr val="3a3f4b"/>
                </a:solidFill>
                <a:latin typeface="Calibri"/>
                <a:ea typeface="Calibri"/>
              </a:rPr>
              <a:t>x ∈ [−2π, 2π], 100 points</a:t>
            </a:r>
            <a:endParaRPr b="0" lang="en-US" sz="1250" spc="-1" strike="noStrike">
              <a:solidFill>
                <a:srgbClr val="000000"/>
              </a:solidFill>
              <a:latin typeface="Arial"/>
            </a:endParaRPr>
          </a:p>
        </p:txBody>
      </p:sp>
      <p:sp>
        <p:nvSpPr>
          <p:cNvPr id="29" name="Text 7"/>
          <p:cNvSpPr/>
          <p:nvPr/>
        </p:nvSpPr>
        <p:spPr>
          <a:xfrm>
            <a:off x="868680" y="3858840"/>
            <a:ext cx="470880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1b2a4a"/>
                </a:solidFill>
                <a:latin typeface="Calibri"/>
                <a:ea typeface="Calibri"/>
              </a:rPr>
              <a:t>Model:  </a:t>
            </a:r>
            <a:r>
              <a:rPr b="0" lang="en-US" sz="1250" spc="-1" strike="noStrike">
                <a:solidFill>
                  <a:srgbClr val="3a3f4b"/>
                </a:solidFill>
                <a:latin typeface="Calibri"/>
                <a:ea typeface="Calibri"/>
              </a:rPr>
              <a:t>nn(input=1, hidden=64, n_layers=1)</a:t>
            </a:r>
            <a:endParaRPr b="0" lang="en-US" sz="1250" spc="-1" strike="noStrike">
              <a:solidFill>
                <a:srgbClr val="000000"/>
              </a:solidFill>
              <a:latin typeface="Arial"/>
            </a:endParaRPr>
          </a:p>
        </p:txBody>
      </p:sp>
      <p:sp>
        <p:nvSpPr>
          <p:cNvPr id="30" name="Text 8"/>
          <p:cNvSpPr/>
          <p:nvPr/>
        </p:nvSpPr>
        <p:spPr>
          <a:xfrm>
            <a:off x="868680" y="4242960"/>
            <a:ext cx="470880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1b2a4a"/>
                </a:solidFill>
                <a:latin typeface="Calibri"/>
                <a:ea typeface="Calibri"/>
              </a:rPr>
              <a:t>Training:  </a:t>
            </a:r>
            <a:r>
              <a:rPr b="0" lang="en-US" sz="1250" spc="-1" strike="noStrike">
                <a:solidFill>
                  <a:srgbClr val="3a3f4b"/>
                </a:solidFill>
                <a:latin typeface="Calibri"/>
                <a:ea typeface="Calibri"/>
              </a:rPr>
              <a:t>1500 epochs, SGD</a:t>
            </a:r>
            <a:endParaRPr b="0" lang="en-US" sz="1250" spc="-1" strike="noStrike">
              <a:solidFill>
                <a:srgbClr val="000000"/>
              </a:solidFill>
              <a:latin typeface="Arial"/>
            </a:endParaRPr>
          </a:p>
        </p:txBody>
      </p:sp>
      <p:sp>
        <p:nvSpPr>
          <p:cNvPr id="31" name="Text 9"/>
          <p:cNvSpPr/>
          <p:nvPr/>
        </p:nvSpPr>
        <p:spPr>
          <a:xfrm>
            <a:off x="868680" y="4626720"/>
            <a:ext cx="470880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1b2a4a"/>
                </a:solidFill>
                <a:latin typeface="Calibri"/>
                <a:ea typeface="Calibri"/>
              </a:rPr>
              <a:t>Learning rate:  </a:t>
            </a:r>
            <a:r>
              <a:rPr b="0" lang="en-US" sz="1250" spc="-1" strike="noStrike">
                <a:solidFill>
                  <a:srgbClr val="3a3f4b"/>
                </a:solidFill>
                <a:latin typeface="Calibri"/>
                <a:ea typeface="Calibri"/>
              </a:rPr>
              <a:t>0.001</a:t>
            </a:r>
            <a:endParaRPr b="0" lang="en-US" sz="1250" spc="-1" strike="noStrike">
              <a:solidFill>
                <a:srgbClr val="000000"/>
              </a:solidFill>
              <a:latin typeface="Arial"/>
            </a:endParaRPr>
          </a:p>
        </p:txBody>
      </p:sp>
      <p:sp>
        <p:nvSpPr>
          <p:cNvPr id="32" name="Shape 10"/>
          <p:cNvSpPr/>
          <p:nvPr/>
        </p:nvSpPr>
        <p:spPr>
          <a:xfrm>
            <a:off x="6291000" y="1783080"/>
            <a:ext cx="5348880" cy="4297320"/>
          </a:xfrm>
          <a:prstGeom prst="roundRect">
            <a:avLst>
              <a:gd name="adj" fmla="val 2553"/>
            </a:avLst>
          </a:prstGeom>
          <a:solidFill>
            <a:srgbClr val="ffffff"/>
          </a:solidFill>
          <a:ln w="12700">
            <a:solidFill>
              <a:srgbClr val="e1e7f0"/>
            </a:solidFill>
            <a:round/>
          </a:ln>
          <a:effectLst>
            <a:outerShdw algn="bl" blurRad="127080" dir="5400000" dist="38160" kx="0" ky="0" rotWithShape="0" sx="100000" sy="100000">
              <a:srgbClr val="1b2a4a">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 name="Shape 11"/>
          <p:cNvSpPr/>
          <p:nvPr/>
        </p:nvSpPr>
        <p:spPr>
          <a:xfrm>
            <a:off x="6611040" y="2103120"/>
            <a:ext cx="4708800" cy="822600"/>
          </a:xfrm>
          <a:prstGeom prst="roundRect">
            <a:avLst>
              <a:gd name="adj" fmla="val 11111"/>
            </a:avLst>
          </a:prstGeom>
          <a:solidFill>
            <a:srgbClr val="1b2a4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 name="Text 12"/>
          <p:cNvSpPr/>
          <p:nvPr/>
        </p:nvSpPr>
        <p:spPr>
          <a:xfrm>
            <a:off x="6611040" y="2103120"/>
            <a:ext cx="4708800" cy="822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1700" spc="-1" strike="noStrike">
                <a:solidFill>
                  <a:srgbClr val="ffffff"/>
                </a:solidFill>
                <a:latin typeface="Cambria"/>
                <a:ea typeface="Cambria"/>
              </a:rPr>
              <a:t>f(x,y) = sin(x)·cos(y)</a:t>
            </a:r>
            <a:endParaRPr b="0" lang="en-US" sz="1700" spc="-1" strike="noStrike">
              <a:solidFill>
                <a:srgbClr val="000000"/>
              </a:solidFill>
              <a:latin typeface="Arial"/>
            </a:endParaRPr>
          </a:p>
        </p:txBody>
      </p:sp>
      <p:sp>
        <p:nvSpPr>
          <p:cNvPr id="35" name="Text 13"/>
          <p:cNvSpPr/>
          <p:nvPr/>
        </p:nvSpPr>
        <p:spPr>
          <a:xfrm>
            <a:off x="6611040" y="3063240"/>
            <a:ext cx="470880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c97a16"/>
                </a:solidFill>
                <a:latin typeface="Calibri"/>
                <a:ea typeface="Calibri"/>
              </a:rPr>
              <a:t>2D Task — Surface Fitting</a:t>
            </a:r>
            <a:endParaRPr b="0" lang="en-US" sz="1500" spc="-1" strike="noStrike">
              <a:solidFill>
                <a:srgbClr val="000000"/>
              </a:solidFill>
              <a:latin typeface="Arial"/>
            </a:endParaRPr>
          </a:p>
        </p:txBody>
      </p:sp>
      <p:sp>
        <p:nvSpPr>
          <p:cNvPr id="36" name="Text 14"/>
          <p:cNvSpPr/>
          <p:nvPr/>
        </p:nvSpPr>
        <p:spPr>
          <a:xfrm>
            <a:off x="6611040" y="3474720"/>
            <a:ext cx="470880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1b2a4a"/>
                </a:solidFill>
                <a:latin typeface="Calibri"/>
                <a:ea typeface="Calibri"/>
              </a:rPr>
              <a:t>Domain:  </a:t>
            </a:r>
            <a:r>
              <a:rPr b="0" lang="en-US" sz="1250" spc="-1" strike="noStrike">
                <a:solidFill>
                  <a:srgbClr val="3a3f4b"/>
                </a:solidFill>
                <a:latin typeface="Calibri"/>
                <a:ea typeface="Calibri"/>
              </a:rPr>
              <a:t>x, y ∈ [−3, 3], 15×15 grid (225 pts)</a:t>
            </a:r>
            <a:endParaRPr b="0" lang="en-US" sz="1250" spc="-1" strike="noStrike">
              <a:solidFill>
                <a:srgbClr val="000000"/>
              </a:solidFill>
              <a:latin typeface="Arial"/>
            </a:endParaRPr>
          </a:p>
        </p:txBody>
      </p:sp>
      <p:sp>
        <p:nvSpPr>
          <p:cNvPr id="37" name="Text 15"/>
          <p:cNvSpPr/>
          <p:nvPr/>
        </p:nvSpPr>
        <p:spPr>
          <a:xfrm>
            <a:off x="6611040" y="3858840"/>
            <a:ext cx="470880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1b2a4a"/>
                </a:solidFill>
                <a:latin typeface="Calibri"/>
                <a:ea typeface="Calibri"/>
              </a:rPr>
              <a:t>Model:  </a:t>
            </a:r>
            <a:r>
              <a:rPr b="0" lang="en-US" sz="1250" spc="-1" strike="noStrike">
                <a:solidFill>
                  <a:srgbClr val="3a3f4b"/>
                </a:solidFill>
                <a:latin typeface="Calibri"/>
                <a:ea typeface="Calibri"/>
              </a:rPr>
              <a:t>nn(input=2, hidden=64, n_layers=1)</a:t>
            </a:r>
            <a:endParaRPr b="0" lang="en-US" sz="1250" spc="-1" strike="noStrike">
              <a:solidFill>
                <a:srgbClr val="000000"/>
              </a:solidFill>
              <a:latin typeface="Arial"/>
            </a:endParaRPr>
          </a:p>
        </p:txBody>
      </p:sp>
      <p:sp>
        <p:nvSpPr>
          <p:cNvPr id="38" name="Text 16"/>
          <p:cNvSpPr/>
          <p:nvPr/>
        </p:nvSpPr>
        <p:spPr>
          <a:xfrm>
            <a:off x="6611040" y="4242960"/>
            <a:ext cx="470880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1b2a4a"/>
                </a:solidFill>
                <a:latin typeface="Calibri"/>
                <a:ea typeface="Calibri"/>
              </a:rPr>
              <a:t>Training:  </a:t>
            </a:r>
            <a:r>
              <a:rPr b="0" lang="en-US" sz="1250" spc="-1" strike="noStrike">
                <a:solidFill>
                  <a:srgbClr val="3a3f4b"/>
                </a:solidFill>
                <a:latin typeface="Calibri"/>
                <a:ea typeface="Calibri"/>
              </a:rPr>
              <a:t>600 epochs, SGD</a:t>
            </a:r>
            <a:endParaRPr b="0" lang="en-US" sz="1250" spc="-1" strike="noStrike">
              <a:solidFill>
                <a:srgbClr val="000000"/>
              </a:solidFill>
              <a:latin typeface="Arial"/>
            </a:endParaRPr>
          </a:p>
        </p:txBody>
      </p:sp>
      <p:sp>
        <p:nvSpPr>
          <p:cNvPr id="39" name="Text 17"/>
          <p:cNvSpPr/>
          <p:nvPr/>
        </p:nvSpPr>
        <p:spPr>
          <a:xfrm>
            <a:off x="6611040" y="4626720"/>
            <a:ext cx="470880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1b2a4a"/>
                </a:solidFill>
                <a:latin typeface="Calibri"/>
                <a:ea typeface="Calibri"/>
              </a:rPr>
              <a:t>Learning rate:  </a:t>
            </a:r>
            <a:r>
              <a:rPr b="0" lang="en-US" sz="1250" spc="-1" strike="noStrike">
                <a:solidFill>
                  <a:srgbClr val="3a3f4b"/>
                </a:solidFill>
                <a:latin typeface="Calibri"/>
                <a:ea typeface="Calibri"/>
              </a:rPr>
              <a:t>0.001</a:t>
            </a:r>
            <a:endParaRPr b="0" lang="en-US" sz="1250" spc="-1" strike="noStrike">
              <a:solidFill>
                <a:srgbClr val="000000"/>
              </a:solidFill>
              <a:latin typeface="Arial"/>
            </a:endParaRPr>
          </a:p>
        </p:txBody>
      </p:sp>
      <p:sp>
        <p:nvSpPr>
          <p:cNvPr id="40" name="Text 18"/>
          <p:cNvSpPr/>
          <p:nvPr/>
        </p:nvSpPr>
        <p:spPr>
          <a:xfrm>
            <a:off x="11548800" y="6446520"/>
            <a:ext cx="36540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5b1"/>
                </a:solidFill>
                <a:latin typeface="Calibri"/>
                <a:ea typeface="Calibri"/>
              </a:rPr>
              <a:t>1</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Text 0"/>
          <p:cNvSpPr/>
          <p:nvPr/>
        </p:nvSpPr>
        <p:spPr>
          <a:xfrm>
            <a:off x="548640" y="365760"/>
            <a:ext cx="1106388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400" spc="-1" strike="noStrike">
                <a:solidFill>
                  <a:srgbClr val="1b2a4a"/>
                </a:solidFill>
                <a:latin typeface="Cambria"/>
                <a:ea typeface="Cambria"/>
              </a:rPr>
              <a:t>1D Function Approximation: Predicted vs. True</a:t>
            </a:r>
            <a:endParaRPr b="0" lang="en-US" sz="2400" spc="-1" strike="noStrike">
              <a:solidFill>
                <a:srgbClr val="000000"/>
              </a:solidFill>
              <a:latin typeface="Arial"/>
            </a:endParaRPr>
          </a:p>
        </p:txBody>
      </p:sp>
      <p:sp>
        <p:nvSpPr>
          <p:cNvPr id="42" name="Text 1"/>
          <p:cNvSpPr/>
          <p:nvPr/>
        </p:nvSpPr>
        <p:spPr>
          <a:xfrm>
            <a:off x="548640" y="868680"/>
            <a:ext cx="1106388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i="1" lang="en-US" sz="1250" spc="-1" strike="noStrike">
                <a:solidFill>
                  <a:srgbClr val="3a3f4b"/>
                </a:solidFill>
                <a:latin typeface="Calibri"/>
                <a:ea typeface="Calibri"/>
              </a:rPr>
              <a:t>f(x) = sin(x) + 0.5·cos(2x)</a:t>
            </a:r>
            <a:r>
              <a:rPr b="0" i="1" lang="en-US" sz="1250" spc="-1" strike="noStrike">
                <a:solidFill>
                  <a:srgbClr val="3a3f4b"/>
                </a:solidFill>
                <a:latin typeface="Calibri"/>
                <a:ea typeface="Calibri"/>
              </a:rPr>
              <a:t>, fit by each activation function</a:t>
            </a:r>
            <a:endParaRPr b="0" lang="en-US" sz="1250" spc="-1" strike="noStrike">
              <a:solidFill>
                <a:srgbClr val="000000"/>
              </a:solidFill>
              <a:latin typeface="Arial"/>
            </a:endParaRPr>
          </a:p>
        </p:txBody>
      </p:sp>
      <p:pic>
        <p:nvPicPr>
          <p:cNvPr id="43" name="Image 0" descr="cell09_0.png"/>
          <p:cNvPicPr/>
          <p:nvPr/>
        </p:nvPicPr>
        <p:blipFill>
          <a:blip r:embed="rId1"/>
          <a:stretch/>
        </p:blipFill>
        <p:spPr>
          <a:xfrm>
            <a:off x="502920" y="1280160"/>
            <a:ext cx="11155320" cy="4425480"/>
          </a:xfrm>
          <a:prstGeom prst="rect">
            <a:avLst/>
          </a:prstGeom>
          <a:ln w="0">
            <a:noFill/>
          </a:ln>
        </p:spPr>
      </p:pic>
      <p:sp>
        <p:nvSpPr>
          <p:cNvPr id="44" name="Shape 2"/>
          <p:cNvSpPr/>
          <p:nvPr/>
        </p:nvSpPr>
        <p:spPr>
          <a:xfrm>
            <a:off x="502920" y="5897880"/>
            <a:ext cx="11155320" cy="502560"/>
          </a:xfrm>
          <a:prstGeom prst="roundRect">
            <a:avLst>
              <a:gd name="adj" fmla="val 14545"/>
            </a:avLst>
          </a:prstGeom>
          <a:solidFill>
            <a:srgbClr val="d8e8f5"/>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 name="Text 3"/>
          <p:cNvSpPr/>
          <p:nvPr/>
        </p:nvSpPr>
        <p:spPr>
          <a:xfrm>
            <a:off x="777240" y="5897880"/>
            <a:ext cx="1060668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1b2a4a"/>
                </a:solidFill>
                <a:latin typeface="Calibri"/>
                <a:ea typeface="Calibri"/>
              </a:rPr>
              <a:t>Best fit: </a:t>
            </a:r>
            <a:r>
              <a:rPr b="0" lang="en-US" sz="1200" spc="-1" strike="noStrike">
                <a:solidFill>
                  <a:srgbClr val="3a3f4b"/>
                </a:solidFill>
                <a:latin typeface="Calibri"/>
                <a:ea typeface="Calibri"/>
              </a:rPr>
              <a:t>softmax (MSE 0.165), sigmoid (0.174), tanh (0.177)   </a:t>
            </a:r>
            <a:r>
              <a:rPr b="1" lang="en-US" sz="1200" spc="-1" strike="noStrike">
                <a:solidFill>
                  <a:srgbClr val="1b2a4a"/>
                </a:solidFill>
                <a:latin typeface="Calibri"/>
                <a:ea typeface="Calibri"/>
              </a:rPr>
              <a:t>•  Worst: </a:t>
            </a:r>
            <a:r>
              <a:rPr b="0" lang="en-US" sz="1200" spc="-1" strike="noStrike">
                <a:solidFill>
                  <a:srgbClr val="3a3f4b"/>
                </a:solidFill>
                <a:latin typeface="Calibri"/>
                <a:ea typeface="Calibri"/>
              </a:rPr>
              <a:t>linear (0.693) — no nonlinearity to bend the fit</a:t>
            </a:r>
            <a:endParaRPr b="0" lang="en-US" sz="1200" spc="-1" strike="noStrike">
              <a:solidFill>
                <a:srgbClr val="000000"/>
              </a:solidFill>
              <a:latin typeface="Arial"/>
            </a:endParaRPr>
          </a:p>
        </p:txBody>
      </p:sp>
      <p:sp>
        <p:nvSpPr>
          <p:cNvPr id="46" name="Text 4"/>
          <p:cNvSpPr/>
          <p:nvPr/>
        </p:nvSpPr>
        <p:spPr>
          <a:xfrm>
            <a:off x="11548800" y="6446520"/>
            <a:ext cx="36540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5b1"/>
                </a:solidFill>
                <a:latin typeface="Calibri"/>
                <a:ea typeface="Calibri"/>
              </a:rPr>
              <a:t>2</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Text 0"/>
          <p:cNvSpPr/>
          <p:nvPr/>
        </p:nvSpPr>
        <p:spPr>
          <a:xfrm>
            <a:off x="548640" y="365760"/>
            <a:ext cx="1106388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400" spc="-1" strike="noStrike">
                <a:solidFill>
                  <a:srgbClr val="1b2a4a"/>
                </a:solidFill>
                <a:latin typeface="Cambria"/>
                <a:ea typeface="Cambria"/>
              </a:rPr>
              <a:t>1D Task: Training Dynamics</a:t>
            </a:r>
            <a:endParaRPr b="0" lang="en-US" sz="2400" spc="-1" strike="noStrike">
              <a:solidFill>
                <a:srgbClr val="000000"/>
              </a:solidFill>
              <a:latin typeface="Arial"/>
            </a:endParaRPr>
          </a:p>
        </p:txBody>
      </p:sp>
      <p:pic>
        <p:nvPicPr>
          <p:cNvPr id="48" name="Image 0" descr="cell10_0.png"/>
          <p:cNvPicPr/>
          <p:nvPr/>
        </p:nvPicPr>
        <p:blipFill>
          <a:blip r:embed="rId1"/>
          <a:stretch/>
        </p:blipFill>
        <p:spPr>
          <a:xfrm>
            <a:off x="502920" y="1143000"/>
            <a:ext cx="5486040" cy="3273120"/>
          </a:xfrm>
          <a:prstGeom prst="rect">
            <a:avLst/>
          </a:prstGeom>
          <a:ln w="0">
            <a:noFill/>
          </a:ln>
        </p:spPr>
      </p:pic>
      <p:pic>
        <p:nvPicPr>
          <p:cNvPr id="49" name="Image 1" descr="cell11_0.png"/>
          <p:cNvPicPr/>
          <p:nvPr/>
        </p:nvPicPr>
        <p:blipFill>
          <a:blip r:embed="rId2"/>
          <a:stretch/>
        </p:blipFill>
        <p:spPr>
          <a:xfrm>
            <a:off x="6263640" y="1143000"/>
            <a:ext cx="5486040" cy="2724480"/>
          </a:xfrm>
          <a:prstGeom prst="rect">
            <a:avLst/>
          </a:prstGeom>
          <a:ln w="0">
            <a:noFill/>
          </a:ln>
        </p:spPr>
      </p:pic>
      <p:sp>
        <p:nvSpPr>
          <p:cNvPr id="50" name="Text 1"/>
          <p:cNvSpPr/>
          <p:nvPr/>
        </p:nvSpPr>
        <p:spPr>
          <a:xfrm>
            <a:off x="502920" y="4480560"/>
            <a:ext cx="54860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1150" spc="-1" strike="noStrike">
                <a:solidFill>
                  <a:srgbClr val="3a3f4b"/>
                </a:solidFill>
                <a:latin typeface="Calibri"/>
                <a:ea typeface="Calibri"/>
              </a:rPr>
              <a:t>Loss curves (log scale)</a:t>
            </a:r>
            <a:endParaRPr b="0" lang="en-US" sz="1150" spc="-1" strike="noStrike">
              <a:solidFill>
                <a:srgbClr val="000000"/>
              </a:solidFill>
              <a:latin typeface="Arial"/>
            </a:endParaRPr>
          </a:p>
        </p:txBody>
      </p:sp>
      <p:sp>
        <p:nvSpPr>
          <p:cNvPr id="51" name="Text 2"/>
          <p:cNvSpPr/>
          <p:nvPr/>
        </p:nvSpPr>
        <p:spPr>
          <a:xfrm>
            <a:off x="6263640" y="3931920"/>
            <a:ext cx="54860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1150" spc="-1" strike="noStrike">
                <a:solidFill>
                  <a:srgbClr val="3a3f4b"/>
                </a:solidFill>
                <a:latin typeface="Calibri"/>
                <a:ea typeface="Calibri"/>
              </a:rPr>
              <a:t>Final MSE, ranked best → worst</a:t>
            </a:r>
            <a:endParaRPr b="0" lang="en-US" sz="1150" spc="-1" strike="noStrike">
              <a:solidFill>
                <a:srgbClr val="000000"/>
              </a:solidFill>
              <a:latin typeface="Arial"/>
            </a:endParaRPr>
          </a:p>
        </p:txBody>
      </p:sp>
      <p:sp>
        <p:nvSpPr>
          <p:cNvPr id="52" name="Shape 3"/>
          <p:cNvSpPr/>
          <p:nvPr/>
        </p:nvSpPr>
        <p:spPr>
          <a:xfrm>
            <a:off x="502920" y="5029200"/>
            <a:ext cx="11201040" cy="1371240"/>
          </a:xfrm>
          <a:prstGeom prst="roundRect">
            <a:avLst>
              <a:gd name="adj" fmla="val 6667"/>
            </a:avLst>
          </a:prstGeom>
          <a:solidFill>
            <a:srgbClr val="f7f9fc"/>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3" name="Text 4"/>
          <p:cNvSpPr/>
          <p:nvPr/>
        </p:nvSpPr>
        <p:spPr>
          <a:xfrm>
            <a:off x="777240" y="5120640"/>
            <a:ext cx="10606680" cy="1188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250" spc="-1" strike="noStrike">
                <a:solidFill>
                  <a:srgbClr val="3a3f4b"/>
                </a:solidFill>
                <a:latin typeface="Calibri"/>
                <a:ea typeface="Calibri"/>
              </a:rPr>
              <a:t>None of the 10 activations diverged (no NaNs) under these settings. Smooth, saturating/self-normalizing activations (softmax, sigmoid, tanh) converge to the lowest loss here; ReLU-family activations (ReLU, leaky_ReLU) converge steadily but plateau higher, and the purely </a:t>
            </a:r>
            <a:r>
              <a:rPr b="0" i="1" lang="en-US" sz="1250" spc="-1" strike="noStrike">
                <a:solidFill>
                  <a:srgbClr val="3a3f4b"/>
                </a:solidFill>
                <a:latin typeface="Calibri"/>
                <a:ea typeface="Calibri"/>
              </a:rPr>
              <a:t>linear</a:t>
            </a:r>
            <a:r>
              <a:rPr b="0" lang="en-US" sz="1250" spc="-1" strike="noStrike">
                <a:solidFill>
                  <a:srgbClr val="3a3f4b"/>
                </a:solidFill>
                <a:latin typeface="Calibri"/>
                <a:ea typeface="Calibri"/>
              </a:rPr>
              <a:t> network cannot represent curvature at all and stalls with the highest error.</a:t>
            </a:r>
            <a:endParaRPr b="0" lang="en-US" sz="1250" spc="-1" strike="noStrike">
              <a:solidFill>
                <a:srgbClr val="000000"/>
              </a:solidFill>
              <a:latin typeface="Arial"/>
            </a:endParaRPr>
          </a:p>
        </p:txBody>
      </p:sp>
      <p:sp>
        <p:nvSpPr>
          <p:cNvPr id="54" name="Text 5"/>
          <p:cNvSpPr/>
          <p:nvPr/>
        </p:nvSpPr>
        <p:spPr>
          <a:xfrm>
            <a:off x="11548800" y="6446520"/>
            <a:ext cx="36540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5b1"/>
                </a:solidFill>
                <a:latin typeface="Calibri"/>
                <a:ea typeface="Calibri"/>
              </a:rPr>
              <a:t>3</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Text 0"/>
          <p:cNvSpPr/>
          <p:nvPr/>
        </p:nvSpPr>
        <p:spPr>
          <a:xfrm>
            <a:off x="548640" y="365760"/>
            <a:ext cx="1106388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400" spc="-1" strike="noStrike">
                <a:solidFill>
                  <a:srgbClr val="1b2a4a"/>
                </a:solidFill>
                <a:latin typeface="Cambria"/>
                <a:ea typeface="Cambria"/>
              </a:rPr>
              <a:t>2D Function Approximation: Predicted Surfaces</a:t>
            </a:r>
            <a:endParaRPr b="0" lang="en-US" sz="2400" spc="-1" strike="noStrike">
              <a:solidFill>
                <a:srgbClr val="000000"/>
              </a:solidFill>
              <a:latin typeface="Arial"/>
            </a:endParaRPr>
          </a:p>
        </p:txBody>
      </p:sp>
      <p:sp>
        <p:nvSpPr>
          <p:cNvPr id="56" name="Text 1"/>
          <p:cNvSpPr/>
          <p:nvPr/>
        </p:nvSpPr>
        <p:spPr>
          <a:xfrm>
            <a:off x="548640" y="868680"/>
            <a:ext cx="1106388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i="1" lang="en-US" sz="1250" spc="-1" strike="noStrike">
                <a:solidFill>
                  <a:srgbClr val="3a3f4b"/>
                </a:solidFill>
                <a:latin typeface="Calibri"/>
                <a:ea typeface="Calibri"/>
              </a:rPr>
              <a:t>f(x,y) = sin(x)·cos(y)</a:t>
            </a:r>
            <a:endParaRPr b="1" lang="en-US" sz="1250" spc="-1" strike="noStrike">
              <a:solidFill>
                <a:srgbClr val="000000"/>
              </a:solidFill>
              <a:latin typeface="Arial"/>
            </a:endParaRPr>
          </a:p>
        </p:txBody>
      </p:sp>
      <p:pic>
        <p:nvPicPr>
          <p:cNvPr id="57" name="Image 0" descr="cell14_0.png"/>
          <p:cNvPicPr/>
          <p:nvPr/>
        </p:nvPicPr>
        <p:blipFill>
          <a:blip r:embed="rId1"/>
          <a:stretch/>
        </p:blipFill>
        <p:spPr>
          <a:xfrm>
            <a:off x="502920" y="1280160"/>
            <a:ext cx="2605680" cy="2624040"/>
          </a:xfrm>
          <a:prstGeom prst="rect">
            <a:avLst/>
          </a:prstGeom>
          <a:ln w="0">
            <a:noFill/>
          </a:ln>
        </p:spPr>
      </p:pic>
      <p:sp>
        <p:nvSpPr>
          <p:cNvPr id="58" name="Text 2"/>
          <p:cNvSpPr/>
          <p:nvPr/>
        </p:nvSpPr>
        <p:spPr>
          <a:xfrm>
            <a:off x="502920" y="3913560"/>
            <a:ext cx="260568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1100" spc="-1" strike="noStrike">
                <a:solidFill>
                  <a:srgbClr val="3a3f4b"/>
                </a:solidFill>
                <a:latin typeface="Calibri"/>
                <a:ea typeface="Calibri"/>
              </a:rPr>
              <a:t>Ground truth</a:t>
            </a:r>
            <a:endParaRPr b="0" lang="en-US" sz="1100" spc="-1" strike="noStrike">
              <a:solidFill>
                <a:srgbClr val="000000"/>
              </a:solidFill>
              <a:latin typeface="Arial"/>
            </a:endParaRPr>
          </a:p>
        </p:txBody>
      </p:sp>
      <p:pic>
        <p:nvPicPr>
          <p:cNvPr id="59" name="Image 1" descr="cell15_0.png"/>
          <p:cNvPicPr/>
          <p:nvPr/>
        </p:nvPicPr>
        <p:blipFill>
          <a:blip r:embed="rId2"/>
          <a:stretch/>
        </p:blipFill>
        <p:spPr>
          <a:xfrm>
            <a:off x="3337560" y="1280160"/>
            <a:ext cx="8366400" cy="4370400"/>
          </a:xfrm>
          <a:prstGeom prst="rect">
            <a:avLst/>
          </a:prstGeom>
          <a:ln w="0">
            <a:noFill/>
          </a:ln>
        </p:spPr>
      </p:pic>
      <p:sp>
        <p:nvSpPr>
          <p:cNvPr id="60" name="Shape 3"/>
          <p:cNvSpPr/>
          <p:nvPr/>
        </p:nvSpPr>
        <p:spPr>
          <a:xfrm>
            <a:off x="502920" y="5897880"/>
            <a:ext cx="11155320" cy="502560"/>
          </a:xfrm>
          <a:prstGeom prst="roundRect">
            <a:avLst>
              <a:gd name="adj" fmla="val 14545"/>
            </a:avLst>
          </a:prstGeom>
          <a:solidFill>
            <a:srgbClr val="d8e8f5"/>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1" name="Text 4"/>
          <p:cNvSpPr/>
          <p:nvPr/>
        </p:nvSpPr>
        <p:spPr>
          <a:xfrm>
            <a:off x="777240" y="5897880"/>
            <a:ext cx="1060668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1b2a4a"/>
                </a:solidFill>
                <a:latin typeface="Calibri"/>
                <a:ea typeface="Calibri"/>
              </a:rPr>
              <a:t>Best fit: </a:t>
            </a:r>
            <a:r>
              <a:rPr b="0" lang="en-US" sz="1200" spc="-1" strike="noStrike">
                <a:solidFill>
                  <a:srgbClr val="3a3f4b"/>
                </a:solidFill>
                <a:latin typeface="Calibri"/>
                <a:ea typeface="Calibri"/>
              </a:rPr>
              <a:t>tanh (MSE 0.005), sigmoid (0.013), GELU (0.017)   </a:t>
            </a:r>
            <a:r>
              <a:rPr b="1" lang="en-US" sz="1200" spc="-1" strike="noStrike">
                <a:solidFill>
                  <a:srgbClr val="1b2a4a"/>
                </a:solidFill>
                <a:latin typeface="Calibri"/>
                <a:ea typeface="Calibri"/>
              </a:rPr>
              <a:t>•  Worst: </a:t>
            </a:r>
            <a:r>
              <a:rPr b="0" lang="en-US" sz="1200" spc="-1" strike="noStrike">
                <a:solidFill>
                  <a:srgbClr val="3a3f4b"/>
                </a:solidFill>
                <a:latin typeface="Calibri"/>
                <a:ea typeface="Calibri"/>
              </a:rPr>
              <a:t>linear (0.288)</a:t>
            </a:r>
            <a:endParaRPr b="0" lang="en-US" sz="1200" spc="-1" strike="noStrike">
              <a:solidFill>
                <a:srgbClr val="000000"/>
              </a:solidFill>
              <a:latin typeface="Arial"/>
            </a:endParaRPr>
          </a:p>
        </p:txBody>
      </p:sp>
      <p:sp>
        <p:nvSpPr>
          <p:cNvPr id="62" name="Text 5"/>
          <p:cNvSpPr/>
          <p:nvPr/>
        </p:nvSpPr>
        <p:spPr>
          <a:xfrm>
            <a:off x="11548800" y="6446520"/>
            <a:ext cx="36540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5b1"/>
                </a:solidFill>
                <a:latin typeface="Calibri"/>
                <a:ea typeface="Calibri"/>
              </a:rPr>
              <a:t>4</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 name="Text 0"/>
          <p:cNvSpPr/>
          <p:nvPr/>
        </p:nvSpPr>
        <p:spPr>
          <a:xfrm>
            <a:off x="548640" y="365760"/>
            <a:ext cx="1106388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400" spc="-1" strike="noStrike">
                <a:solidFill>
                  <a:srgbClr val="1b2a4a"/>
                </a:solidFill>
                <a:latin typeface="Cambria"/>
                <a:ea typeface="Cambria"/>
              </a:rPr>
              <a:t>2D Task: Training Dynamics</a:t>
            </a:r>
            <a:endParaRPr b="0" lang="en-US" sz="2400" spc="-1" strike="noStrike">
              <a:solidFill>
                <a:srgbClr val="000000"/>
              </a:solidFill>
              <a:latin typeface="Arial"/>
            </a:endParaRPr>
          </a:p>
        </p:txBody>
      </p:sp>
      <p:pic>
        <p:nvPicPr>
          <p:cNvPr id="64" name="Image 0" descr="cell16_0.png"/>
          <p:cNvPicPr/>
          <p:nvPr/>
        </p:nvPicPr>
        <p:blipFill>
          <a:blip r:embed="rId1"/>
          <a:stretch/>
        </p:blipFill>
        <p:spPr>
          <a:xfrm>
            <a:off x="502920" y="1143000"/>
            <a:ext cx="5486040" cy="3273120"/>
          </a:xfrm>
          <a:prstGeom prst="rect">
            <a:avLst/>
          </a:prstGeom>
          <a:ln w="0">
            <a:noFill/>
          </a:ln>
        </p:spPr>
      </p:pic>
      <p:pic>
        <p:nvPicPr>
          <p:cNvPr id="65" name="Image 1" descr="cell17_0.png"/>
          <p:cNvPicPr/>
          <p:nvPr/>
        </p:nvPicPr>
        <p:blipFill>
          <a:blip r:embed="rId2"/>
          <a:stretch/>
        </p:blipFill>
        <p:spPr>
          <a:xfrm>
            <a:off x="6263640" y="1143000"/>
            <a:ext cx="5486040" cy="2724480"/>
          </a:xfrm>
          <a:prstGeom prst="rect">
            <a:avLst/>
          </a:prstGeom>
          <a:ln w="0">
            <a:noFill/>
          </a:ln>
        </p:spPr>
      </p:pic>
      <p:sp>
        <p:nvSpPr>
          <p:cNvPr id="66" name="Text 1"/>
          <p:cNvSpPr/>
          <p:nvPr/>
        </p:nvSpPr>
        <p:spPr>
          <a:xfrm>
            <a:off x="502920" y="4480560"/>
            <a:ext cx="54860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1150" spc="-1" strike="noStrike">
                <a:solidFill>
                  <a:srgbClr val="3a3f4b"/>
                </a:solidFill>
                <a:latin typeface="Calibri"/>
                <a:ea typeface="Calibri"/>
              </a:rPr>
              <a:t>Loss curves (log scale)</a:t>
            </a:r>
            <a:endParaRPr b="0" lang="en-US" sz="1150" spc="-1" strike="noStrike">
              <a:solidFill>
                <a:srgbClr val="000000"/>
              </a:solidFill>
              <a:latin typeface="Arial"/>
            </a:endParaRPr>
          </a:p>
        </p:txBody>
      </p:sp>
      <p:sp>
        <p:nvSpPr>
          <p:cNvPr id="67" name="Text 2"/>
          <p:cNvSpPr/>
          <p:nvPr/>
        </p:nvSpPr>
        <p:spPr>
          <a:xfrm>
            <a:off x="6263640" y="3931920"/>
            <a:ext cx="54860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1150" spc="-1" strike="noStrike">
                <a:solidFill>
                  <a:srgbClr val="3a3f4b"/>
                </a:solidFill>
                <a:latin typeface="Calibri"/>
                <a:ea typeface="Calibri"/>
              </a:rPr>
              <a:t>Final MSE, ranked best → worst</a:t>
            </a:r>
            <a:endParaRPr b="0" lang="en-US" sz="1150" spc="-1" strike="noStrike">
              <a:solidFill>
                <a:srgbClr val="000000"/>
              </a:solidFill>
              <a:latin typeface="Arial"/>
            </a:endParaRPr>
          </a:p>
        </p:txBody>
      </p:sp>
      <p:sp>
        <p:nvSpPr>
          <p:cNvPr id="68" name="Shape 3"/>
          <p:cNvSpPr/>
          <p:nvPr/>
        </p:nvSpPr>
        <p:spPr>
          <a:xfrm>
            <a:off x="502920" y="5029200"/>
            <a:ext cx="11201040" cy="1371240"/>
          </a:xfrm>
          <a:prstGeom prst="roundRect">
            <a:avLst>
              <a:gd name="adj" fmla="val 6667"/>
            </a:avLst>
          </a:prstGeom>
          <a:solidFill>
            <a:srgbClr val="f7f9fc"/>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9" name="Text 4"/>
          <p:cNvSpPr/>
          <p:nvPr/>
        </p:nvSpPr>
        <p:spPr>
          <a:xfrm>
            <a:off x="777240" y="5120640"/>
            <a:ext cx="10606680" cy="1188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250" spc="-1" strike="noStrike">
                <a:solidFill>
                  <a:srgbClr val="3a3f4b"/>
                </a:solidFill>
                <a:latin typeface="Calibri"/>
                <a:ea typeface="Calibri"/>
              </a:rPr>
              <a:t>tanh's smooth, zero-centered output makes it the strongest fit for this smoother 2D surface. </a:t>
            </a:r>
            <a:r>
              <a:rPr b="1" lang="en-US" sz="1250" spc="-1" strike="noStrike">
                <a:solidFill>
                  <a:srgbClr val="3a3f4b"/>
                </a:solidFill>
                <a:latin typeface="Calibri"/>
                <a:ea typeface="Calibri"/>
              </a:rPr>
              <a:t>softmax drops</a:t>
            </a:r>
            <a:r>
              <a:rPr b="0" lang="en-US" sz="1250" spc="-1" strike="noStrike">
                <a:solidFill>
                  <a:srgbClr val="3a3f4b"/>
                </a:solidFill>
                <a:latin typeface="Calibri"/>
                <a:ea typeface="Calibri"/>
              </a:rPr>
              <a:t> from 1st place (1D) to 9th (2D) forcing hidden activations to sum to one discards magnitude information that matters more as the target gets more complex, showing that the best activation is task-dependent.</a:t>
            </a:r>
            <a:endParaRPr b="0" lang="en-US" sz="1250" spc="-1" strike="noStrike">
              <a:solidFill>
                <a:srgbClr val="000000"/>
              </a:solidFill>
              <a:latin typeface="Arial"/>
            </a:endParaRPr>
          </a:p>
        </p:txBody>
      </p:sp>
      <p:sp>
        <p:nvSpPr>
          <p:cNvPr id="70" name="Text 5"/>
          <p:cNvSpPr/>
          <p:nvPr/>
        </p:nvSpPr>
        <p:spPr>
          <a:xfrm>
            <a:off x="11548800" y="6446520"/>
            <a:ext cx="36540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5b1"/>
                </a:solidFill>
                <a:latin typeface="Calibri"/>
                <a:ea typeface="Calibri"/>
              </a:rPr>
              <a:t>5</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c"/>
        </a:solidFill>
      </p:bgPr>
    </p:bg>
    <p:spTree>
      <p:nvGrpSpPr>
        <p:cNvPr id="1" name=""/>
        <p:cNvGrpSpPr/>
        <p:nvPr/>
      </p:nvGrpSpPr>
      <p:grpSpPr>
        <a:xfrm>
          <a:off x="0" y="0"/>
          <a:ext cx="0" cy="0"/>
          <a:chOff x="0" y="0"/>
          <a:chExt cx="0" cy="0"/>
        </a:xfrm>
      </p:grpSpPr>
      <p:sp>
        <p:nvSpPr>
          <p:cNvPr id="71" name="Text 0"/>
          <p:cNvSpPr/>
          <p:nvPr/>
        </p:nvSpPr>
        <p:spPr>
          <a:xfrm>
            <a:off x="548640" y="411480"/>
            <a:ext cx="1106388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600" spc="-1" strike="noStrike">
                <a:solidFill>
                  <a:srgbClr val="1b2a4a"/>
                </a:solidFill>
                <a:latin typeface="Cambria"/>
                <a:ea typeface="Cambria"/>
              </a:rPr>
              <a:t>Summary: 1D </a:t>
            </a:r>
            <a:r>
              <a:rPr b="1" lang="en-US" sz="2600" spc="-1" strike="noStrike">
                <a:solidFill>
                  <a:srgbClr val="1b2a4a"/>
                </a:solidFill>
                <a:latin typeface="Cambria"/>
                <a:ea typeface="Cambria"/>
              </a:rPr>
              <a:t>vs. 2D </a:t>
            </a:r>
            <a:r>
              <a:rPr b="1" lang="en-US" sz="2600" spc="-1" strike="noStrike">
                <a:solidFill>
                  <a:srgbClr val="1b2a4a"/>
                </a:solidFill>
                <a:latin typeface="Cambria"/>
                <a:ea typeface="Cambria"/>
              </a:rPr>
              <a:t>Performance </a:t>
            </a:r>
            <a:r>
              <a:rPr b="1" lang="en-US" sz="2600" spc="-1" strike="noStrike">
                <a:solidFill>
                  <a:srgbClr val="1b2a4a"/>
                </a:solidFill>
                <a:latin typeface="Cambria"/>
                <a:ea typeface="Cambria"/>
              </a:rPr>
              <a:t>by Activation</a:t>
            </a:r>
            <a:endParaRPr b="0" lang="en-US" sz="2600" spc="-1" strike="noStrike">
              <a:solidFill>
                <a:srgbClr val="000000"/>
              </a:solidFill>
              <a:latin typeface="Arial"/>
            </a:endParaRPr>
          </a:p>
        </p:txBody>
      </p:sp>
      <p:sp>
        <p:nvSpPr>
          <p:cNvPr id="72" name="Text 1"/>
          <p:cNvSpPr/>
          <p:nvPr/>
        </p:nvSpPr>
        <p:spPr>
          <a:xfrm>
            <a:off x="548640" y="1234440"/>
            <a:ext cx="521172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1b2a4a"/>
                </a:solidFill>
                <a:latin typeface="Calibri"/>
                <a:ea typeface="Calibri"/>
              </a:rPr>
              <a:t>1D: sin(x) + 0.5·cos(2x)</a:t>
            </a:r>
            <a:endParaRPr b="0" lang="en-US" sz="1400" spc="-1" strike="noStrike">
              <a:solidFill>
                <a:srgbClr val="000000"/>
              </a:solidFill>
              <a:latin typeface="Arial"/>
            </a:endParaRPr>
          </a:p>
        </p:txBody>
      </p:sp>
      <p:graphicFrame>
        <p:nvGraphicFramePr>
          <p:cNvPr id="73" name="Table 0"/>
          <p:cNvGraphicFramePr/>
          <p:nvPr/>
        </p:nvGraphicFramePr>
        <p:xfrm>
          <a:off x="548640" y="1600200"/>
          <a:ext cx="5211720" cy="3369240"/>
        </p:xfrm>
        <a:graphic>
          <a:graphicData uri="http://schemas.openxmlformats.org/drawingml/2006/table">
            <a:tbl>
              <a:tblPr/>
              <a:tblGrid>
                <a:gridCol w="2743200"/>
                <a:gridCol w="1234440"/>
                <a:gridCol w="1234440"/>
              </a:tblGrid>
              <a:tr h="306000">
                <a:tc>
                  <a:txBody>
                    <a:bodyPr anchor="t">
                      <a:noAutofit/>
                    </a:bodyPr>
                    <a:p>
                      <a:pPr defTabSz="914400">
                        <a:lnSpc>
                          <a:spcPct val="100000"/>
                        </a:lnSpc>
                        <a:tabLst>
                          <a:tab algn="l" pos="0"/>
                        </a:tabLst>
                      </a:pPr>
                      <a:r>
                        <a:rPr b="1" lang="en-US" sz="1150" spc="-1" strike="noStrike">
                          <a:solidFill>
                            <a:srgbClr val="ffffff"/>
                          </a:solidFill>
                          <a:latin typeface="Calibri"/>
                        </a:rPr>
                        <a:t>Activation</a:t>
                      </a:r>
                      <a:endParaRPr b="0" lang="en-US" sz="1150" spc="-1" strike="noStrike">
                        <a:solidFill>
                          <a:srgbClr val="ffffff"/>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1b2a4a"/>
                    </a:solidFill>
                  </a:tcPr>
                </a:tc>
                <a:tc>
                  <a:txBody>
                    <a:bodyPr anchor="t">
                      <a:noAutofit/>
                    </a:bodyPr>
                    <a:p>
                      <a:pPr algn="ctr" defTabSz="914400">
                        <a:lnSpc>
                          <a:spcPct val="100000"/>
                        </a:lnSpc>
                        <a:tabLst>
                          <a:tab algn="l" pos="0"/>
                        </a:tabLst>
                      </a:pPr>
                      <a:r>
                        <a:rPr b="1" lang="en-US" sz="1150" spc="-1" strike="noStrike">
                          <a:solidFill>
                            <a:srgbClr val="ffffff"/>
                          </a:solidFill>
                          <a:latin typeface="Calibri"/>
                        </a:rPr>
                        <a:t>MSE</a:t>
                      </a:r>
                      <a:endParaRPr b="0" lang="en-US" sz="1150" spc="-1" strike="noStrike">
                        <a:solidFill>
                          <a:srgbClr val="ffffff"/>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1b2a4a"/>
                    </a:solidFill>
                  </a:tcPr>
                </a:tc>
                <a:tc>
                  <a:txBody>
                    <a:bodyPr anchor="t">
                      <a:noAutofit/>
                    </a:bodyPr>
                    <a:p>
                      <a:pPr algn="ctr" defTabSz="914400">
                        <a:lnSpc>
                          <a:spcPct val="100000"/>
                        </a:lnSpc>
                        <a:tabLst>
                          <a:tab algn="l" pos="0"/>
                        </a:tabLst>
                      </a:pPr>
                      <a:r>
                        <a:rPr b="1" lang="en-US" sz="1150" spc="-1" strike="noStrike">
                          <a:solidFill>
                            <a:srgbClr val="ffffff"/>
                          </a:solidFill>
                          <a:latin typeface="Calibri"/>
                        </a:rPr>
                        <a:t>Rank</a:t>
                      </a:r>
                      <a:endParaRPr b="0" lang="en-US" sz="1150" spc="-1" strike="noStrike">
                        <a:solidFill>
                          <a:srgbClr val="ffffff"/>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1b2a4a"/>
                    </a:solidFill>
                  </a:tcPr>
                </a:tc>
              </a:tr>
              <a:tr h="306000">
                <a:tc>
                  <a:txBody>
                    <a:bodyPr anchor="t">
                      <a:noAutofit/>
                    </a:bodyPr>
                    <a:p>
                      <a:pPr defTabSz="914400">
                        <a:lnSpc>
                          <a:spcPct val="100000"/>
                        </a:lnSpc>
                        <a:tabLst>
                          <a:tab algn="l" pos="0"/>
                        </a:tabLst>
                      </a:pPr>
                      <a:r>
                        <a:rPr b="1" lang="en-US" sz="1150" spc="-1" strike="noStrike">
                          <a:solidFill>
                            <a:srgbClr val="c97a16"/>
                          </a:solidFill>
                          <a:latin typeface="Calibri"/>
                        </a:rPr>
                        <a:t>softmax</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c>
                  <a:txBody>
                    <a:bodyPr anchor="t">
                      <a:noAutofit/>
                    </a:bodyPr>
                    <a:p>
                      <a:pPr algn="ctr" defTabSz="914400">
                        <a:lnSpc>
                          <a:spcPct val="100000"/>
                        </a:lnSpc>
                        <a:tabLst>
                          <a:tab algn="l" pos="0"/>
                        </a:tabLst>
                      </a:pPr>
                      <a:r>
                        <a:rPr b="1" lang="en-US" sz="1150" spc="-1" strike="noStrike">
                          <a:solidFill>
                            <a:srgbClr val="c97a16"/>
                          </a:solidFill>
                          <a:latin typeface="Calibri"/>
                        </a:rPr>
                        <a:t>0.165</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c>
                  <a:txBody>
                    <a:bodyPr anchor="t">
                      <a:noAutofit/>
                    </a:bodyPr>
                    <a:p>
                      <a:pPr algn="ctr" defTabSz="914400">
                        <a:lnSpc>
                          <a:spcPct val="100000"/>
                        </a:lnSpc>
                        <a:tabLst>
                          <a:tab algn="l" pos="0"/>
                        </a:tabLst>
                      </a:pPr>
                      <a:r>
                        <a:rPr b="1" lang="en-US" sz="1150" spc="-1" strike="noStrike">
                          <a:solidFill>
                            <a:srgbClr val="c97a16"/>
                          </a:solidFill>
                          <a:latin typeface="Calibri"/>
                        </a:rPr>
                        <a:t>1</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r>
              <a:tr h="306000">
                <a:tc>
                  <a:txBody>
                    <a:bodyPr anchor="t">
                      <a:noAutofit/>
                    </a:bodyPr>
                    <a:p>
                      <a:pPr defTabSz="914400">
                        <a:lnSpc>
                          <a:spcPct val="100000"/>
                        </a:lnSpc>
                        <a:tabLst>
                          <a:tab algn="l" pos="0"/>
                        </a:tabLst>
                      </a:pPr>
                      <a:r>
                        <a:rPr b="1" lang="en-US" sz="1150" spc="-1" strike="noStrike">
                          <a:solidFill>
                            <a:srgbClr val="c97a16"/>
                          </a:solidFill>
                          <a:latin typeface="Calibri"/>
                        </a:rPr>
                        <a:t>sigmoid</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c>
                  <a:txBody>
                    <a:bodyPr anchor="t">
                      <a:noAutofit/>
                    </a:bodyPr>
                    <a:p>
                      <a:pPr algn="ctr" defTabSz="914400">
                        <a:lnSpc>
                          <a:spcPct val="100000"/>
                        </a:lnSpc>
                        <a:tabLst>
                          <a:tab algn="l" pos="0"/>
                        </a:tabLst>
                      </a:pPr>
                      <a:r>
                        <a:rPr b="1" lang="en-US" sz="1150" spc="-1" strike="noStrike">
                          <a:solidFill>
                            <a:srgbClr val="c97a16"/>
                          </a:solidFill>
                          <a:latin typeface="Calibri"/>
                        </a:rPr>
                        <a:t>0.174</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c>
                  <a:txBody>
                    <a:bodyPr anchor="t">
                      <a:noAutofit/>
                    </a:bodyPr>
                    <a:p>
                      <a:pPr algn="ctr" defTabSz="914400">
                        <a:lnSpc>
                          <a:spcPct val="100000"/>
                        </a:lnSpc>
                        <a:tabLst>
                          <a:tab algn="l" pos="0"/>
                        </a:tabLst>
                      </a:pPr>
                      <a:r>
                        <a:rPr b="1" lang="en-US" sz="1150" spc="-1" strike="noStrike">
                          <a:solidFill>
                            <a:srgbClr val="c97a16"/>
                          </a:solidFill>
                          <a:latin typeface="Calibri"/>
                        </a:rPr>
                        <a:t>2</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r>
              <a:tr h="306000">
                <a:tc>
                  <a:txBody>
                    <a:bodyPr anchor="t">
                      <a:noAutofit/>
                    </a:bodyPr>
                    <a:p>
                      <a:pPr defTabSz="914400">
                        <a:lnSpc>
                          <a:spcPct val="100000"/>
                        </a:lnSpc>
                        <a:tabLst>
                          <a:tab algn="l" pos="0"/>
                        </a:tabLst>
                      </a:pPr>
                      <a:r>
                        <a:rPr b="1" lang="en-US" sz="1150" spc="-1" strike="noStrike">
                          <a:solidFill>
                            <a:srgbClr val="c97a16"/>
                          </a:solidFill>
                          <a:latin typeface="Calibri"/>
                        </a:rPr>
                        <a:t>tanh</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c>
                  <a:txBody>
                    <a:bodyPr anchor="t">
                      <a:noAutofit/>
                    </a:bodyPr>
                    <a:p>
                      <a:pPr algn="ctr" defTabSz="914400">
                        <a:lnSpc>
                          <a:spcPct val="100000"/>
                        </a:lnSpc>
                        <a:tabLst>
                          <a:tab algn="l" pos="0"/>
                        </a:tabLst>
                      </a:pPr>
                      <a:r>
                        <a:rPr b="1" lang="en-US" sz="1150" spc="-1" strike="noStrike">
                          <a:solidFill>
                            <a:srgbClr val="c97a16"/>
                          </a:solidFill>
                          <a:latin typeface="Calibri"/>
                        </a:rPr>
                        <a:t>0.177</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c>
                  <a:txBody>
                    <a:bodyPr anchor="t">
                      <a:noAutofit/>
                    </a:bodyPr>
                    <a:p>
                      <a:pPr algn="ctr" defTabSz="914400">
                        <a:lnSpc>
                          <a:spcPct val="100000"/>
                        </a:lnSpc>
                        <a:tabLst>
                          <a:tab algn="l" pos="0"/>
                        </a:tabLst>
                      </a:pPr>
                      <a:r>
                        <a:rPr b="1" lang="en-US" sz="1150" spc="-1" strike="noStrike">
                          <a:solidFill>
                            <a:srgbClr val="c97a16"/>
                          </a:solidFill>
                          <a:latin typeface="Calibri"/>
                        </a:rPr>
                        <a:t>3</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r>
              <a:tr h="306000">
                <a:tc>
                  <a:txBody>
                    <a:bodyPr anchor="t">
                      <a:noAutofit/>
                    </a:bodyPr>
                    <a:p>
                      <a:pPr defTabSz="914400">
                        <a:lnSpc>
                          <a:spcPct val="100000"/>
                        </a:lnSpc>
                        <a:tabLst>
                          <a:tab algn="l" pos="0"/>
                        </a:tabLst>
                      </a:pPr>
                      <a:r>
                        <a:rPr b="0" lang="en-US" sz="1150" spc="-1" strike="noStrike">
                          <a:solidFill>
                            <a:srgbClr val="3a3f4b"/>
                          </a:solidFill>
                          <a:latin typeface="Calibri"/>
                        </a:rPr>
                        <a:t>SELU</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0.275</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4</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r>
              <a:tr h="306000">
                <a:tc>
                  <a:txBody>
                    <a:bodyPr anchor="t">
                      <a:noAutofit/>
                    </a:bodyPr>
                    <a:p>
                      <a:pPr defTabSz="914400">
                        <a:lnSpc>
                          <a:spcPct val="100000"/>
                        </a:lnSpc>
                        <a:tabLst>
                          <a:tab algn="l" pos="0"/>
                        </a:tabLst>
                      </a:pPr>
                      <a:r>
                        <a:rPr b="0" lang="en-US" sz="1150" spc="-1" strike="noStrike">
                          <a:solidFill>
                            <a:srgbClr val="3a3f4b"/>
                          </a:solidFill>
                          <a:latin typeface="Calibri"/>
                        </a:rPr>
                        <a:t>GELU</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0.287</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5</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r>
              <a:tr h="306000">
                <a:tc>
                  <a:txBody>
                    <a:bodyPr anchor="t">
                      <a:noAutofit/>
                    </a:bodyPr>
                    <a:p>
                      <a:pPr defTabSz="914400">
                        <a:lnSpc>
                          <a:spcPct val="100000"/>
                        </a:lnSpc>
                        <a:tabLst>
                          <a:tab algn="l" pos="0"/>
                        </a:tabLst>
                      </a:pPr>
                      <a:r>
                        <a:rPr b="0" lang="en-US" sz="1150" spc="-1" strike="noStrike">
                          <a:solidFill>
                            <a:srgbClr val="3a3f4b"/>
                          </a:solidFill>
                          <a:latin typeface="Calibri"/>
                        </a:rPr>
                        <a:t>ELU</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0.355</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6</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r>
              <a:tr h="306000">
                <a:tc>
                  <a:txBody>
                    <a:bodyPr anchor="t">
                      <a:noAutofit/>
                    </a:bodyPr>
                    <a:p>
                      <a:pPr defTabSz="914400">
                        <a:lnSpc>
                          <a:spcPct val="100000"/>
                        </a:lnSpc>
                        <a:tabLst>
                          <a:tab algn="l" pos="0"/>
                        </a:tabLst>
                      </a:pPr>
                      <a:r>
                        <a:rPr b="0" lang="en-US" sz="1150" spc="-1" strike="noStrike">
                          <a:solidFill>
                            <a:srgbClr val="3a3f4b"/>
                          </a:solidFill>
                          <a:latin typeface="Calibri"/>
                        </a:rPr>
                        <a:t>swish</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0.549</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7</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r>
              <a:tr h="306000">
                <a:tc>
                  <a:txBody>
                    <a:bodyPr anchor="t">
                      <a:noAutofit/>
                    </a:bodyPr>
                    <a:p>
                      <a:pPr defTabSz="914400">
                        <a:lnSpc>
                          <a:spcPct val="100000"/>
                        </a:lnSpc>
                        <a:tabLst>
                          <a:tab algn="l" pos="0"/>
                        </a:tabLst>
                      </a:pPr>
                      <a:r>
                        <a:rPr b="0" lang="en-US" sz="1150" spc="-1" strike="noStrike">
                          <a:solidFill>
                            <a:srgbClr val="3a3f4b"/>
                          </a:solidFill>
                          <a:latin typeface="Calibri"/>
                        </a:rPr>
                        <a:t>ReLU</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0.675</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8</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r>
              <a:tr h="306000">
                <a:tc>
                  <a:txBody>
                    <a:bodyPr anchor="t">
                      <a:noAutofit/>
                    </a:bodyPr>
                    <a:p>
                      <a:pPr defTabSz="914400">
                        <a:lnSpc>
                          <a:spcPct val="100000"/>
                        </a:lnSpc>
                        <a:tabLst>
                          <a:tab algn="l" pos="0"/>
                        </a:tabLst>
                      </a:pPr>
                      <a:r>
                        <a:rPr b="0" lang="en-US" sz="1150" spc="-1" strike="noStrike">
                          <a:solidFill>
                            <a:srgbClr val="3a3f4b"/>
                          </a:solidFill>
                          <a:latin typeface="Calibri"/>
                        </a:rPr>
                        <a:t>leaky_ReLU</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0.676</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9</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r>
              <a:tr h="306000">
                <a:tc>
                  <a:txBody>
                    <a:bodyPr anchor="t">
                      <a:noAutofit/>
                    </a:bodyPr>
                    <a:p>
                      <a:pPr defTabSz="914400">
                        <a:lnSpc>
                          <a:spcPct val="100000"/>
                        </a:lnSpc>
                        <a:tabLst>
                          <a:tab algn="l" pos="0"/>
                        </a:tabLst>
                      </a:pPr>
                      <a:r>
                        <a:rPr b="0" lang="en-US" sz="1150" spc="-1" strike="noStrike">
                          <a:solidFill>
                            <a:srgbClr val="3a3f4b"/>
                          </a:solidFill>
                          <a:latin typeface="Calibri"/>
                        </a:rPr>
                        <a:t>linear</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0.693</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10</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r>
            </a:tbl>
          </a:graphicData>
        </a:graphic>
      </p:graphicFrame>
      <p:sp>
        <p:nvSpPr>
          <p:cNvPr id="74" name="Text 2"/>
          <p:cNvSpPr/>
          <p:nvPr/>
        </p:nvSpPr>
        <p:spPr>
          <a:xfrm>
            <a:off x="6291000" y="1234440"/>
            <a:ext cx="521172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1b2a4a"/>
                </a:solidFill>
                <a:latin typeface="Calibri"/>
                <a:ea typeface="Calibri"/>
              </a:rPr>
              <a:t>2D: sin(x)·cos(y)</a:t>
            </a:r>
            <a:endParaRPr b="0" lang="en-US" sz="1400" spc="-1" strike="noStrike">
              <a:solidFill>
                <a:srgbClr val="000000"/>
              </a:solidFill>
              <a:latin typeface="Arial"/>
            </a:endParaRPr>
          </a:p>
        </p:txBody>
      </p:sp>
      <p:graphicFrame>
        <p:nvGraphicFramePr>
          <p:cNvPr id="75" name="Table 1"/>
          <p:cNvGraphicFramePr/>
          <p:nvPr/>
        </p:nvGraphicFramePr>
        <p:xfrm>
          <a:off x="6291000" y="1600200"/>
          <a:ext cx="5211720" cy="3369240"/>
        </p:xfrm>
        <a:graphic>
          <a:graphicData uri="http://schemas.openxmlformats.org/drawingml/2006/table">
            <a:tbl>
              <a:tblPr/>
              <a:tblGrid>
                <a:gridCol w="2743200"/>
                <a:gridCol w="1234440"/>
                <a:gridCol w="1234440"/>
              </a:tblGrid>
              <a:tr h="306000">
                <a:tc>
                  <a:txBody>
                    <a:bodyPr anchor="t">
                      <a:noAutofit/>
                    </a:bodyPr>
                    <a:p>
                      <a:pPr defTabSz="914400">
                        <a:lnSpc>
                          <a:spcPct val="100000"/>
                        </a:lnSpc>
                        <a:tabLst>
                          <a:tab algn="l" pos="0"/>
                        </a:tabLst>
                      </a:pPr>
                      <a:r>
                        <a:rPr b="1" lang="en-US" sz="1150" spc="-1" strike="noStrike">
                          <a:solidFill>
                            <a:srgbClr val="ffffff"/>
                          </a:solidFill>
                          <a:latin typeface="Calibri"/>
                        </a:rPr>
                        <a:t>Activation</a:t>
                      </a:r>
                      <a:endParaRPr b="0" lang="en-US" sz="1150" spc="-1" strike="noStrike">
                        <a:solidFill>
                          <a:srgbClr val="ffffff"/>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1b2a4a"/>
                    </a:solidFill>
                  </a:tcPr>
                </a:tc>
                <a:tc>
                  <a:txBody>
                    <a:bodyPr anchor="t">
                      <a:noAutofit/>
                    </a:bodyPr>
                    <a:p>
                      <a:pPr algn="ctr" defTabSz="914400">
                        <a:lnSpc>
                          <a:spcPct val="100000"/>
                        </a:lnSpc>
                        <a:tabLst>
                          <a:tab algn="l" pos="0"/>
                        </a:tabLst>
                      </a:pPr>
                      <a:r>
                        <a:rPr b="1" lang="en-US" sz="1150" spc="-1" strike="noStrike">
                          <a:solidFill>
                            <a:srgbClr val="ffffff"/>
                          </a:solidFill>
                          <a:latin typeface="Calibri"/>
                        </a:rPr>
                        <a:t>MSE</a:t>
                      </a:r>
                      <a:endParaRPr b="0" lang="en-US" sz="1150" spc="-1" strike="noStrike">
                        <a:solidFill>
                          <a:srgbClr val="ffffff"/>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1b2a4a"/>
                    </a:solidFill>
                  </a:tcPr>
                </a:tc>
                <a:tc>
                  <a:txBody>
                    <a:bodyPr anchor="t">
                      <a:noAutofit/>
                    </a:bodyPr>
                    <a:p>
                      <a:pPr algn="ctr" defTabSz="914400">
                        <a:lnSpc>
                          <a:spcPct val="100000"/>
                        </a:lnSpc>
                        <a:tabLst>
                          <a:tab algn="l" pos="0"/>
                        </a:tabLst>
                      </a:pPr>
                      <a:r>
                        <a:rPr b="1" lang="en-US" sz="1150" spc="-1" strike="noStrike">
                          <a:solidFill>
                            <a:srgbClr val="ffffff"/>
                          </a:solidFill>
                          <a:latin typeface="Calibri"/>
                        </a:rPr>
                        <a:t>Rank</a:t>
                      </a:r>
                      <a:endParaRPr b="0" lang="en-US" sz="1150" spc="-1" strike="noStrike">
                        <a:solidFill>
                          <a:srgbClr val="ffffff"/>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1b2a4a"/>
                    </a:solidFill>
                  </a:tcPr>
                </a:tc>
              </a:tr>
              <a:tr h="306000">
                <a:tc>
                  <a:txBody>
                    <a:bodyPr anchor="t">
                      <a:noAutofit/>
                    </a:bodyPr>
                    <a:p>
                      <a:pPr defTabSz="914400">
                        <a:lnSpc>
                          <a:spcPct val="100000"/>
                        </a:lnSpc>
                        <a:tabLst>
                          <a:tab algn="l" pos="0"/>
                        </a:tabLst>
                      </a:pPr>
                      <a:r>
                        <a:rPr b="1" lang="en-US" sz="1150" spc="-1" strike="noStrike">
                          <a:solidFill>
                            <a:srgbClr val="c97a16"/>
                          </a:solidFill>
                          <a:latin typeface="Calibri"/>
                        </a:rPr>
                        <a:t>tanh</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c>
                  <a:txBody>
                    <a:bodyPr anchor="t">
                      <a:noAutofit/>
                    </a:bodyPr>
                    <a:p>
                      <a:pPr algn="ctr" defTabSz="914400">
                        <a:lnSpc>
                          <a:spcPct val="100000"/>
                        </a:lnSpc>
                        <a:tabLst>
                          <a:tab algn="l" pos="0"/>
                        </a:tabLst>
                      </a:pPr>
                      <a:r>
                        <a:rPr b="1" lang="en-US" sz="1150" spc="-1" strike="noStrike">
                          <a:solidFill>
                            <a:srgbClr val="c97a16"/>
                          </a:solidFill>
                          <a:latin typeface="Calibri"/>
                        </a:rPr>
                        <a:t>0.005</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c>
                  <a:txBody>
                    <a:bodyPr anchor="t">
                      <a:noAutofit/>
                    </a:bodyPr>
                    <a:p>
                      <a:pPr algn="ctr" defTabSz="914400">
                        <a:lnSpc>
                          <a:spcPct val="100000"/>
                        </a:lnSpc>
                        <a:tabLst>
                          <a:tab algn="l" pos="0"/>
                        </a:tabLst>
                      </a:pPr>
                      <a:r>
                        <a:rPr b="1" lang="en-US" sz="1150" spc="-1" strike="noStrike">
                          <a:solidFill>
                            <a:srgbClr val="c97a16"/>
                          </a:solidFill>
                          <a:latin typeface="Calibri"/>
                        </a:rPr>
                        <a:t>1</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r>
              <a:tr h="306000">
                <a:tc>
                  <a:txBody>
                    <a:bodyPr anchor="t">
                      <a:noAutofit/>
                    </a:bodyPr>
                    <a:p>
                      <a:pPr defTabSz="914400">
                        <a:lnSpc>
                          <a:spcPct val="100000"/>
                        </a:lnSpc>
                        <a:tabLst>
                          <a:tab algn="l" pos="0"/>
                        </a:tabLst>
                      </a:pPr>
                      <a:r>
                        <a:rPr b="1" lang="en-US" sz="1150" spc="-1" strike="noStrike">
                          <a:solidFill>
                            <a:srgbClr val="c97a16"/>
                          </a:solidFill>
                          <a:latin typeface="Calibri"/>
                        </a:rPr>
                        <a:t>sigmoid</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c>
                  <a:txBody>
                    <a:bodyPr anchor="t">
                      <a:noAutofit/>
                    </a:bodyPr>
                    <a:p>
                      <a:pPr algn="ctr" defTabSz="914400">
                        <a:lnSpc>
                          <a:spcPct val="100000"/>
                        </a:lnSpc>
                        <a:tabLst>
                          <a:tab algn="l" pos="0"/>
                        </a:tabLst>
                      </a:pPr>
                      <a:r>
                        <a:rPr b="1" lang="en-US" sz="1150" spc="-1" strike="noStrike">
                          <a:solidFill>
                            <a:srgbClr val="c97a16"/>
                          </a:solidFill>
                          <a:latin typeface="Calibri"/>
                        </a:rPr>
                        <a:t>0.013</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c>
                  <a:txBody>
                    <a:bodyPr anchor="t">
                      <a:noAutofit/>
                    </a:bodyPr>
                    <a:p>
                      <a:pPr algn="ctr" defTabSz="914400">
                        <a:lnSpc>
                          <a:spcPct val="100000"/>
                        </a:lnSpc>
                        <a:tabLst>
                          <a:tab algn="l" pos="0"/>
                        </a:tabLst>
                      </a:pPr>
                      <a:r>
                        <a:rPr b="1" lang="en-US" sz="1150" spc="-1" strike="noStrike">
                          <a:solidFill>
                            <a:srgbClr val="c97a16"/>
                          </a:solidFill>
                          <a:latin typeface="Calibri"/>
                        </a:rPr>
                        <a:t>2</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r>
              <a:tr h="306000">
                <a:tc>
                  <a:txBody>
                    <a:bodyPr anchor="t">
                      <a:noAutofit/>
                    </a:bodyPr>
                    <a:p>
                      <a:pPr defTabSz="914400">
                        <a:lnSpc>
                          <a:spcPct val="100000"/>
                        </a:lnSpc>
                        <a:tabLst>
                          <a:tab algn="l" pos="0"/>
                        </a:tabLst>
                      </a:pPr>
                      <a:r>
                        <a:rPr b="1" lang="en-US" sz="1150" spc="-1" strike="noStrike">
                          <a:solidFill>
                            <a:srgbClr val="c97a16"/>
                          </a:solidFill>
                          <a:latin typeface="Calibri"/>
                        </a:rPr>
                        <a:t>GELU</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c>
                  <a:txBody>
                    <a:bodyPr anchor="t">
                      <a:noAutofit/>
                    </a:bodyPr>
                    <a:p>
                      <a:pPr algn="ctr" defTabSz="914400">
                        <a:lnSpc>
                          <a:spcPct val="100000"/>
                        </a:lnSpc>
                        <a:tabLst>
                          <a:tab algn="l" pos="0"/>
                        </a:tabLst>
                      </a:pPr>
                      <a:r>
                        <a:rPr b="1" lang="en-US" sz="1150" spc="-1" strike="noStrike">
                          <a:solidFill>
                            <a:srgbClr val="c97a16"/>
                          </a:solidFill>
                          <a:latin typeface="Calibri"/>
                        </a:rPr>
                        <a:t>0.017</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c>
                  <a:txBody>
                    <a:bodyPr anchor="t">
                      <a:noAutofit/>
                    </a:bodyPr>
                    <a:p>
                      <a:pPr algn="ctr" defTabSz="914400">
                        <a:lnSpc>
                          <a:spcPct val="100000"/>
                        </a:lnSpc>
                        <a:tabLst>
                          <a:tab algn="l" pos="0"/>
                        </a:tabLst>
                      </a:pPr>
                      <a:r>
                        <a:rPr b="1" lang="en-US" sz="1150" spc="-1" strike="noStrike">
                          <a:solidFill>
                            <a:srgbClr val="c97a16"/>
                          </a:solidFill>
                          <a:latin typeface="Calibri"/>
                        </a:rPr>
                        <a:t>3</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r>
              <a:tr h="306000">
                <a:tc>
                  <a:txBody>
                    <a:bodyPr anchor="t">
                      <a:noAutofit/>
                    </a:bodyPr>
                    <a:p>
                      <a:pPr defTabSz="914400">
                        <a:lnSpc>
                          <a:spcPct val="100000"/>
                        </a:lnSpc>
                        <a:tabLst>
                          <a:tab algn="l" pos="0"/>
                        </a:tabLst>
                      </a:pPr>
                      <a:r>
                        <a:rPr b="0" lang="en-US" sz="1150" spc="-1" strike="noStrike">
                          <a:solidFill>
                            <a:srgbClr val="3a3f4b"/>
                          </a:solidFill>
                          <a:latin typeface="Calibri"/>
                        </a:rPr>
                        <a:t>SELU</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0.022</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4</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r>
              <a:tr h="306000">
                <a:tc>
                  <a:txBody>
                    <a:bodyPr anchor="t">
                      <a:noAutofit/>
                    </a:bodyPr>
                    <a:p>
                      <a:pPr defTabSz="914400">
                        <a:lnSpc>
                          <a:spcPct val="100000"/>
                        </a:lnSpc>
                        <a:tabLst>
                          <a:tab algn="l" pos="0"/>
                        </a:tabLst>
                      </a:pPr>
                      <a:r>
                        <a:rPr b="0" lang="en-US" sz="1150" spc="-1" strike="noStrike">
                          <a:solidFill>
                            <a:srgbClr val="3a3f4b"/>
                          </a:solidFill>
                          <a:latin typeface="Calibri"/>
                        </a:rPr>
                        <a:t>ReLU</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0.023</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5</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r>
              <a:tr h="306000">
                <a:tc>
                  <a:txBody>
                    <a:bodyPr anchor="t">
                      <a:noAutofit/>
                    </a:bodyPr>
                    <a:p>
                      <a:pPr defTabSz="914400">
                        <a:lnSpc>
                          <a:spcPct val="100000"/>
                        </a:lnSpc>
                        <a:tabLst>
                          <a:tab algn="l" pos="0"/>
                        </a:tabLst>
                      </a:pPr>
                      <a:r>
                        <a:rPr b="0" lang="en-US" sz="1150" spc="-1" strike="noStrike">
                          <a:solidFill>
                            <a:srgbClr val="3a3f4b"/>
                          </a:solidFill>
                          <a:latin typeface="Calibri"/>
                        </a:rPr>
                        <a:t>leaky_ReLU</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0.024</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6</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r>
              <a:tr h="306000">
                <a:tc>
                  <a:txBody>
                    <a:bodyPr anchor="t">
                      <a:noAutofit/>
                    </a:bodyPr>
                    <a:p>
                      <a:pPr defTabSz="914400">
                        <a:lnSpc>
                          <a:spcPct val="100000"/>
                        </a:lnSpc>
                        <a:tabLst>
                          <a:tab algn="l" pos="0"/>
                        </a:tabLst>
                      </a:pPr>
                      <a:r>
                        <a:rPr b="0" lang="en-US" sz="1150" spc="-1" strike="noStrike">
                          <a:solidFill>
                            <a:srgbClr val="3a3f4b"/>
                          </a:solidFill>
                          <a:latin typeface="Calibri"/>
                        </a:rPr>
                        <a:t>swish</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0.025</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7</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r>
              <a:tr h="306000">
                <a:tc>
                  <a:txBody>
                    <a:bodyPr anchor="t">
                      <a:noAutofit/>
                    </a:bodyPr>
                    <a:p>
                      <a:pPr defTabSz="914400">
                        <a:lnSpc>
                          <a:spcPct val="100000"/>
                        </a:lnSpc>
                        <a:tabLst>
                          <a:tab algn="l" pos="0"/>
                        </a:tabLst>
                      </a:pPr>
                      <a:r>
                        <a:rPr b="0" lang="en-US" sz="1150" spc="-1" strike="noStrike">
                          <a:solidFill>
                            <a:srgbClr val="3a3f4b"/>
                          </a:solidFill>
                          <a:latin typeface="Calibri"/>
                        </a:rPr>
                        <a:t>ELU</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0.034</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8</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r>
              <a:tr h="306000">
                <a:tc>
                  <a:txBody>
                    <a:bodyPr anchor="t">
                      <a:noAutofit/>
                    </a:bodyPr>
                    <a:p>
                      <a:pPr defTabSz="914400">
                        <a:lnSpc>
                          <a:spcPct val="100000"/>
                        </a:lnSpc>
                        <a:tabLst>
                          <a:tab algn="l" pos="0"/>
                        </a:tabLst>
                      </a:pPr>
                      <a:r>
                        <a:rPr b="0" lang="en-US" sz="1150" spc="-1" strike="noStrike">
                          <a:solidFill>
                            <a:srgbClr val="3a3f4b"/>
                          </a:solidFill>
                          <a:latin typeface="Calibri"/>
                        </a:rPr>
                        <a:t>softmax</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0.077</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9</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ffffff"/>
                    </a:solidFill>
                  </a:tcPr>
                </a:tc>
              </a:tr>
              <a:tr h="306000">
                <a:tc>
                  <a:txBody>
                    <a:bodyPr anchor="t">
                      <a:noAutofit/>
                    </a:bodyPr>
                    <a:p>
                      <a:pPr defTabSz="914400">
                        <a:lnSpc>
                          <a:spcPct val="100000"/>
                        </a:lnSpc>
                        <a:tabLst>
                          <a:tab algn="l" pos="0"/>
                        </a:tabLst>
                      </a:pPr>
                      <a:r>
                        <a:rPr b="0" lang="en-US" sz="1150" spc="-1" strike="noStrike">
                          <a:solidFill>
                            <a:srgbClr val="3a3f4b"/>
                          </a:solidFill>
                          <a:latin typeface="Calibri"/>
                        </a:rPr>
                        <a:t>linear</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0.288</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c>
                  <a:txBody>
                    <a:bodyPr anchor="t">
                      <a:noAutofit/>
                    </a:bodyPr>
                    <a:p>
                      <a:pPr algn="ctr" defTabSz="914400">
                        <a:lnSpc>
                          <a:spcPct val="100000"/>
                        </a:lnSpc>
                        <a:tabLst>
                          <a:tab algn="l" pos="0"/>
                        </a:tabLst>
                      </a:pPr>
                      <a:r>
                        <a:rPr b="0" lang="en-US" sz="1150" spc="-1" strike="noStrike">
                          <a:solidFill>
                            <a:srgbClr val="3a3f4b"/>
                          </a:solidFill>
                          <a:latin typeface="Calibri"/>
                        </a:rPr>
                        <a:t>10</a:t>
                      </a:r>
                      <a:endParaRPr b="0" lang="en-US" sz="1150" spc="-1" strike="noStrike">
                        <a:solidFill>
                          <a:srgbClr val="000000"/>
                        </a:solidFill>
                        <a:latin typeface="Arial"/>
                      </a:endParaRPr>
                    </a:p>
                  </a:txBody>
                  <a:tcPr anchor="t" marL="91440" marR="91440">
                    <a:lnL w="9360">
                      <a:solidFill>
                        <a:srgbClr val="e1e7f0"/>
                      </a:solidFill>
                      <a:prstDash val="solid"/>
                    </a:lnL>
                    <a:lnR w="9360">
                      <a:solidFill>
                        <a:srgbClr val="e1e7f0"/>
                      </a:solidFill>
                      <a:prstDash val="solid"/>
                    </a:lnR>
                    <a:lnT w="9360">
                      <a:solidFill>
                        <a:srgbClr val="e1e7f0"/>
                      </a:solidFill>
                      <a:prstDash val="solid"/>
                    </a:lnT>
                    <a:lnB w="9360">
                      <a:solidFill>
                        <a:srgbClr val="e1e7f0"/>
                      </a:solidFill>
                      <a:prstDash val="solid"/>
                    </a:lnB>
                    <a:solidFill>
                      <a:srgbClr val="eef2f8"/>
                    </a:solidFill>
                  </a:tcPr>
                </a:tc>
              </a:tr>
            </a:tbl>
          </a:graphicData>
        </a:graphic>
      </p:graphicFrame>
      <p:sp>
        <p:nvSpPr>
          <p:cNvPr id="76" name="Text 3"/>
          <p:cNvSpPr/>
          <p:nvPr/>
        </p:nvSpPr>
        <p:spPr>
          <a:xfrm>
            <a:off x="11548800" y="6446520"/>
            <a:ext cx="36540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5b1"/>
                </a:solidFill>
                <a:latin typeface="Calibri"/>
                <a:ea typeface="Calibri"/>
              </a:rPr>
              <a:t>6</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7" name="Text 0"/>
          <p:cNvSpPr/>
          <p:nvPr/>
        </p:nvSpPr>
        <p:spPr>
          <a:xfrm>
            <a:off x="548640" y="365760"/>
            <a:ext cx="1106388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400" spc="-1" strike="noStrike">
                <a:solidFill>
                  <a:srgbClr val="1b2a4a"/>
                </a:solidFill>
                <a:latin typeface="Cambria"/>
                <a:ea typeface="Cambria"/>
              </a:rPr>
              <a:t>Does Adding Neurons Improve Nonlinearity Fit?</a:t>
            </a:r>
            <a:endParaRPr b="0" lang="en-US" sz="2400" spc="-1" strike="noStrike">
              <a:solidFill>
                <a:srgbClr val="000000"/>
              </a:solidFill>
              <a:latin typeface="Arial"/>
            </a:endParaRPr>
          </a:p>
        </p:txBody>
      </p:sp>
      <p:sp>
        <p:nvSpPr>
          <p:cNvPr id="78" name="Text 1"/>
          <p:cNvSpPr/>
          <p:nvPr/>
        </p:nvSpPr>
        <p:spPr>
          <a:xfrm>
            <a:off x="548640" y="868680"/>
            <a:ext cx="1106388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20000"/>
              </a:lnSpc>
              <a:tabLst>
                <a:tab algn="l" pos="0"/>
              </a:tabLst>
            </a:pPr>
            <a:r>
              <a:rPr b="0" i="1" lang="en-US" sz="1250" spc="-1" strike="noStrike">
                <a:solidFill>
                  <a:srgbClr val="3a3f4b"/>
                </a:solidFill>
                <a:latin typeface="Calibri"/>
                <a:ea typeface="Calibri"/>
              </a:rPr>
              <a:t>Fixed n_layers=1, activation=tanh only hidden_dim (width) changes. Target: </a:t>
            </a:r>
            <a:r>
              <a:rPr b="1" i="1" lang="en-US" sz="1250" spc="-1" strike="noStrike">
                <a:solidFill>
                  <a:srgbClr val="3a3f4b"/>
                </a:solidFill>
                <a:latin typeface="Calibri"/>
                <a:ea typeface="Calibri"/>
              </a:rPr>
              <a:t>f(x) = sin(2x) + 0.3·sin(5x)</a:t>
            </a:r>
            <a:r>
              <a:rPr b="0" i="1" lang="en-US" sz="1250" spc="-1" strike="noStrike">
                <a:solidFill>
                  <a:srgbClr val="3a3f4b"/>
                </a:solidFill>
                <a:latin typeface="Calibri"/>
                <a:ea typeface="Calibri"/>
              </a:rPr>
              <a:t>, a higher-frequency curve than the earlier 1D task, chosen to make the width effect obvious.</a:t>
            </a:r>
            <a:endParaRPr b="0" lang="en-US" sz="1250" spc="-1" strike="noStrike">
              <a:solidFill>
                <a:srgbClr val="000000"/>
              </a:solidFill>
              <a:latin typeface="Arial"/>
            </a:endParaRPr>
          </a:p>
        </p:txBody>
      </p:sp>
      <p:pic>
        <p:nvPicPr>
          <p:cNvPr id="79" name="Image 0" descr="width_grid.png"/>
          <p:cNvPicPr/>
          <p:nvPr/>
        </p:nvPicPr>
        <p:blipFill>
          <a:blip r:embed="rId1"/>
          <a:stretch/>
        </p:blipFill>
        <p:spPr>
          <a:xfrm>
            <a:off x="1463040" y="1417320"/>
            <a:ext cx="9235080" cy="5147640"/>
          </a:xfrm>
          <a:prstGeom prst="rect">
            <a:avLst/>
          </a:prstGeom>
          <a:ln w="0">
            <a:noFill/>
          </a:ln>
        </p:spPr>
      </p:pic>
      <p:sp>
        <p:nvSpPr>
          <p:cNvPr id="80" name="Text 2"/>
          <p:cNvSpPr/>
          <p:nvPr/>
        </p:nvSpPr>
        <p:spPr>
          <a:xfrm>
            <a:off x="11548800" y="6446520"/>
            <a:ext cx="36540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5b1"/>
                </a:solidFill>
                <a:latin typeface="Calibri"/>
                <a:ea typeface="Calibri"/>
              </a:rPr>
              <a:t>7</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1" name="Text 0"/>
          <p:cNvSpPr/>
          <p:nvPr/>
        </p:nvSpPr>
        <p:spPr>
          <a:xfrm>
            <a:off x="548640" y="365760"/>
            <a:ext cx="1106388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400" spc="-1" strike="noStrike">
                <a:solidFill>
                  <a:srgbClr val="1b2a4a"/>
                </a:solidFill>
                <a:latin typeface="Cambria"/>
                <a:ea typeface="Cambria"/>
              </a:rPr>
              <a:t>Width Study: Error vs. Hidden Layer Size</a:t>
            </a:r>
            <a:endParaRPr b="0" lang="en-US" sz="2400" spc="-1" strike="noStrike">
              <a:solidFill>
                <a:srgbClr val="000000"/>
              </a:solidFill>
              <a:latin typeface="Arial"/>
            </a:endParaRPr>
          </a:p>
        </p:txBody>
      </p:sp>
      <p:pic>
        <p:nvPicPr>
          <p:cNvPr id="82" name="Image 0" descr="width_mse.png"/>
          <p:cNvPicPr/>
          <p:nvPr/>
        </p:nvPicPr>
        <p:blipFill>
          <a:blip r:embed="rId1"/>
          <a:stretch/>
        </p:blipFill>
        <p:spPr>
          <a:xfrm>
            <a:off x="502920" y="1051560"/>
            <a:ext cx="6537600" cy="3620520"/>
          </a:xfrm>
          <a:prstGeom prst="rect">
            <a:avLst/>
          </a:prstGeom>
          <a:ln w="0">
            <a:noFill/>
          </a:ln>
        </p:spPr>
      </p:pic>
      <p:sp>
        <p:nvSpPr>
          <p:cNvPr id="83" name="Shape 1"/>
          <p:cNvSpPr/>
          <p:nvPr/>
        </p:nvSpPr>
        <p:spPr>
          <a:xfrm>
            <a:off x="7315200" y="1069920"/>
            <a:ext cx="365400" cy="365400"/>
          </a:xfrm>
          <a:prstGeom prst="ellipse">
            <a:avLst/>
          </a:prstGeom>
          <a:solidFill>
            <a:srgbClr val="3e92c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4" name="Text 2"/>
          <p:cNvSpPr/>
          <p:nvPr/>
        </p:nvSpPr>
        <p:spPr>
          <a:xfrm>
            <a:off x="7315200" y="1069920"/>
            <a:ext cx="36540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ffffff"/>
                </a:solidFill>
                <a:latin typeface="Calibri"/>
                <a:ea typeface="Calibri"/>
              </a:rPr>
              <a:t>1</a:t>
            </a:r>
            <a:endParaRPr b="0" lang="en-US" sz="1400" spc="-1" strike="noStrike">
              <a:solidFill>
                <a:srgbClr val="000000"/>
              </a:solidFill>
              <a:latin typeface="Arial"/>
            </a:endParaRPr>
          </a:p>
        </p:txBody>
      </p:sp>
      <p:sp>
        <p:nvSpPr>
          <p:cNvPr id="85" name="Text 3"/>
          <p:cNvSpPr/>
          <p:nvPr/>
        </p:nvSpPr>
        <p:spPr>
          <a:xfrm>
            <a:off x="7818120" y="996840"/>
            <a:ext cx="393156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 strike="noStrike">
                <a:solidFill>
                  <a:srgbClr val="1b2a4a"/>
                </a:solidFill>
                <a:latin typeface="Calibri"/>
                <a:ea typeface="Calibri"/>
              </a:rPr>
              <a:t>Error drops sharply at first</a:t>
            </a:r>
            <a:endParaRPr b="0" lang="en-US" sz="1300" spc="-1" strike="noStrike">
              <a:solidFill>
                <a:srgbClr val="000000"/>
              </a:solidFill>
              <a:latin typeface="Arial"/>
            </a:endParaRPr>
          </a:p>
        </p:txBody>
      </p:sp>
      <p:sp>
        <p:nvSpPr>
          <p:cNvPr id="86" name="Text 4"/>
          <p:cNvSpPr/>
          <p:nvPr/>
        </p:nvSpPr>
        <p:spPr>
          <a:xfrm>
            <a:off x="7818120" y="1307520"/>
            <a:ext cx="3931560" cy="1051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18000"/>
              </a:lnSpc>
              <a:tabLst>
                <a:tab algn="l" pos="0"/>
              </a:tabLst>
            </a:pPr>
            <a:r>
              <a:rPr b="0" lang="en-US" sz="1100" spc="-1" strike="noStrike">
                <a:solidFill>
                  <a:srgbClr val="3a3f4b"/>
                </a:solidFill>
                <a:latin typeface="Calibri"/>
                <a:ea typeface="Calibri"/>
              </a:rPr>
              <a:t>1 neuron can only bend the curve once (MSE 0.52); by 8 neurons the network already tracks the slow oscillation (MSE 0.23).</a:t>
            </a:r>
            <a:endParaRPr b="0" lang="en-US" sz="1100" spc="-1" strike="noStrike">
              <a:solidFill>
                <a:srgbClr val="000000"/>
              </a:solidFill>
              <a:latin typeface="Arial"/>
            </a:endParaRPr>
          </a:p>
        </p:txBody>
      </p:sp>
      <p:sp>
        <p:nvSpPr>
          <p:cNvPr id="87" name="Shape 5"/>
          <p:cNvSpPr/>
          <p:nvPr/>
        </p:nvSpPr>
        <p:spPr>
          <a:xfrm>
            <a:off x="7315200" y="2560320"/>
            <a:ext cx="365400" cy="365400"/>
          </a:xfrm>
          <a:prstGeom prst="ellipse">
            <a:avLst/>
          </a:prstGeom>
          <a:solidFill>
            <a:srgbClr val="3e92c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8" name="Text 6"/>
          <p:cNvSpPr/>
          <p:nvPr/>
        </p:nvSpPr>
        <p:spPr>
          <a:xfrm>
            <a:off x="7315200" y="2560320"/>
            <a:ext cx="36540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ffffff"/>
                </a:solidFill>
                <a:latin typeface="Calibri"/>
                <a:ea typeface="Calibri"/>
              </a:rPr>
              <a:t>2</a:t>
            </a:r>
            <a:endParaRPr b="0" lang="en-US" sz="1400" spc="-1" strike="noStrike">
              <a:solidFill>
                <a:srgbClr val="000000"/>
              </a:solidFill>
              <a:latin typeface="Arial"/>
            </a:endParaRPr>
          </a:p>
        </p:txBody>
      </p:sp>
      <p:sp>
        <p:nvSpPr>
          <p:cNvPr id="89" name="Text 7"/>
          <p:cNvSpPr/>
          <p:nvPr/>
        </p:nvSpPr>
        <p:spPr>
          <a:xfrm>
            <a:off x="7818120" y="2487240"/>
            <a:ext cx="393156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 strike="noStrike">
                <a:solidFill>
                  <a:srgbClr val="1b2a4a"/>
                </a:solidFill>
                <a:latin typeface="Calibri"/>
                <a:ea typeface="Calibri"/>
              </a:rPr>
              <a:t>Then returns diminish</a:t>
            </a:r>
            <a:endParaRPr b="0" lang="en-US" sz="1300" spc="-1" strike="noStrike">
              <a:solidFill>
                <a:srgbClr val="000000"/>
              </a:solidFill>
              <a:latin typeface="Arial"/>
            </a:endParaRPr>
          </a:p>
        </p:txBody>
      </p:sp>
      <p:sp>
        <p:nvSpPr>
          <p:cNvPr id="90" name="Text 8"/>
          <p:cNvSpPr/>
          <p:nvPr/>
        </p:nvSpPr>
        <p:spPr>
          <a:xfrm>
            <a:off x="7818120" y="2797920"/>
            <a:ext cx="3931560" cy="1051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18000"/>
              </a:lnSpc>
              <a:tabLst>
                <a:tab algn="l" pos="0"/>
              </a:tabLst>
            </a:pPr>
            <a:r>
              <a:rPr b="0" lang="en-US" sz="1100" spc="-1" strike="noStrike">
                <a:solidFill>
                  <a:srgbClr val="3a3f4b"/>
                </a:solidFill>
                <a:latin typeface="Calibri"/>
                <a:ea typeface="Calibri"/>
              </a:rPr>
              <a:t>16→32 neurons only takes MSE from 0.085 to 0.067 most of the representational gain is already captured.</a:t>
            </a:r>
            <a:endParaRPr b="0" lang="en-US" sz="1100" spc="-1" strike="noStrike">
              <a:solidFill>
                <a:srgbClr val="000000"/>
              </a:solidFill>
              <a:latin typeface="Arial"/>
            </a:endParaRPr>
          </a:p>
        </p:txBody>
      </p:sp>
      <p:sp>
        <p:nvSpPr>
          <p:cNvPr id="91" name="Shape 9"/>
          <p:cNvSpPr/>
          <p:nvPr/>
        </p:nvSpPr>
        <p:spPr>
          <a:xfrm>
            <a:off x="7315200" y="4050720"/>
            <a:ext cx="365400" cy="365400"/>
          </a:xfrm>
          <a:prstGeom prst="ellipse">
            <a:avLst/>
          </a:prstGeom>
          <a:solidFill>
            <a:srgbClr val="3e92c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2" name="Text 10"/>
          <p:cNvSpPr/>
          <p:nvPr/>
        </p:nvSpPr>
        <p:spPr>
          <a:xfrm>
            <a:off x="7315200" y="4050720"/>
            <a:ext cx="36540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ffffff"/>
                </a:solidFill>
                <a:latin typeface="Calibri"/>
                <a:ea typeface="Calibri"/>
              </a:rPr>
              <a:t>3</a:t>
            </a:r>
            <a:endParaRPr b="0" lang="en-US" sz="1400" spc="-1" strike="noStrike">
              <a:solidFill>
                <a:srgbClr val="000000"/>
              </a:solidFill>
              <a:latin typeface="Arial"/>
            </a:endParaRPr>
          </a:p>
        </p:txBody>
      </p:sp>
      <p:sp>
        <p:nvSpPr>
          <p:cNvPr id="93" name="Text 11"/>
          <p:cNvSpPr/>
          <p:nvPr/>
        </p:nvSpPr>
        <p:spPr>
          <a:xfrm>
            <a:off x="7818120" y="3977640"/>
            <a:ext cx="393156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 strike="noStrike">
                <a:solidFill>
                  <a:srgbClr val="1b2a4a"/>
                </a:solidFill>
                <a:latin typeface="Calibri"/>
                <a:ea typeface="Calibri"/>
              </a:rPr>
              <a:t>Wider needs more training, not just more capacity</a:t>
            </a:r>
            <a:endParaRPr b="0" lang="en-US" sz="1300" spc="-1" strike="noStrike">
              <a:solidFill>
                <a:srgbClr val="000000"/>
              </a:solidFill>
              <a:latin typeface="Arial"/>
            </a:endParaRPr>
          </a:p>
        </p:txBody>
      </p:sp>
      <p:sp>
        <p:nvSpPr>
          <p:cNvPr id="94" name="Text 12"/>
          <p:cNvSpPr/>
          <p:nvPr/>
        </p:nvSpPr>
        <p:spPr>
          <a:xfrm>
            <a:off x="7818120" y="4288680"/>
            <a:ext cx="3931560" cy="1051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18000"/>
              </a:lnSpc>
              <a:tabLst>
                <a:tab algn="l" pos="0"/>
              </a:tabLst>
            </a:pPr>
            <a:r>
              <a:rPr b="0" lang="en-US" sz="1100" spc="-1" strike="noStrike">
                <a:solidFill>
                  <a:srgbClr val="3a3f4b"/>
                </a:solidFill>
                <a:latin typeface="Calibri"/>
                <a:ea typeface="Calibri"/>
              </a:rPr>
              <a:t>Beyond ~32 neurons (with this fixed epoch budget &amp; plain SGD), wider layers can score worse simply because they haven't finished converging yet.</a:t>
            </a:r>
            <a:endParaRPr b="0" lang="en-US" sz="1100" spc="-1" strike="noStrike">
              <a:solidFill>
                <a:srgbClr val="000000"/>
              </a:solidFill>
              <a:latin typeface="Arial"/>
            </a:endParaRPr>
          </a:p>
        </p:txBody>
      </p:sp>
      <p:sp>
        <p:nvSpPr>
          <p:cNvPr id="95" name="Text 13"/>
          <p:cNvSpPr/>
          <p:nvPr/>
        </p:nvSpPr>
        <p:spPr>
          <a:xfrm>
            <a:off x="11548800" y="6446520"/>
            <a:ext cx="36540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5b1"/>
                </a:solidFill>
                <a:latin typeface="Calibri"/>
                <a:ea typeface="Calibri"/>
              </a:rPr>
              <a:t>8</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2a4a"/>
        </a:solidFill>
      </p:bgPr>
    </p:bg>
    <p:spTree>
      <p:nvGrpSpPr>
        <p:cNvPr id="1" name=""/>
        <p:cNvGrpSpPr/>
        <p:nvPr/>
      </p:nvGrpSpPr>
      <p:grpSpPr>
        <a:xfrm>
          <a:off x="0" y="0"/>
          <a:ext cx="0" cy="0"/>
          <a:chOff x="0" y="0"/>
          <a:chExt cx="0" cy="0"/>
        </a:xfrm>
      </p:grpSpPr>
      <p:sp>
        <p:nvSpPr>
          <p:cNvPr id="96" name="Shape 4"/>
          <p:cNvSpPr/>
          <p:nvPr/>
        </p:nvSpPr>
        <p:spPr>
          <a:xfrm>
            <a:off x="-1371600" y="-1463040"/>
            <a:ext cx="3840120" cy="3840120"/>
          </a:xfrm>
          <a:prstGeom prst="ellipse">
            <a:avLst/>
          </a:prstGeom>
          <a:solidFill>
            <a:srgbClr val="121d3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7" name="Shape 6"/>
          <p:cNvSpPr/>
          <p:nvPr/>
        </p:nvSpPr>
        <p:spPr>
          <a:xfrm>
            <a:off x="10058400" y="4754880"/>
            <a:ext cx="3657240" cy="3657240"/>
          </a:xfrm>
          <a:prstGeom prst="ellipse">
            <a:avLst/>
          </a:prstGeom>
          <a:solidFill>
            <a:srgbClr val="121d3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8" name="Text 23"/>
          <p:cNvSpPr/>
          <p:nvPr/>
        </p:nvSpPr>
        <p:spPr>
          <a:xfrm>
            <a:off x="822960" y="457200"/>
            <a:ext cx="10058040" cy="594000"/>
          </a:xfrm>
          <a:prstGeom prst="rect">
            <a:avLst/>
          </a:prstGeom>
          <a:noFill/>
          <a:ln w="0">
            <a:no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99" name="Text 24"/>
          <p:cNvSpPr/>
          <p:nvPr/>
        </p:nvSpPr>
        <p:spPr>
          <a:xfrm>
            <a:off x="822960" y="1252800"/>
            <a:ext cx="310680" cy="310680"/>
          </a:xfrm>
          <a:prstGeom prst="rect">
            <a:avLst/>
          </a:prstGeom>
          <a:noFill/>
          <a:ln w="0">
            <a:no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100" name="Text 25"/>
          <p:cNvSpPr/>
          <p:nvPr/>
        </p:nvSpPr>
        <p:spPr>
          <a:xfrm>
            <a:off x="1353240" y="1143000"/>
            <a:ext cx="10012320" cy="776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8000"/>
              </a:lnSpc>
              <a:tabLst>
                <a:tab algn="l" pos="0"/>
              </a:tabLst>
            </a:pPr>
            <a:r>
              <a:rPr b="0" lang="en-US" sz="1250" spc="-1" strike="noStrike">
                <a:solidFill>
                  <a:srgbClr val="d8e8f5"/>
                </a:solidFill>
                <a:latin typeface="Calibri"/>
                <a:ea typeface="Calibri"/>
              </a:rPr>
              <a:t>.</a:t>
            </a:r>
            <a:endParaRPr b="0" lang="en-US" sz="1250" spc="-1" strike="noStrike">
              <a:solidFill>
                <a:srgbClr val="ffffff"/>
              </a:solidFill>
              <a:latin typeface="Arial"/>
            </a:endParaRPr>
          </a:p>
        </p:txBody>
      </p:sp>
      <p:sp>
        <p:nvSpPr>
          <p:cNvPr id="101" name="Text 26"/>
          <p:cNvSpPr/>
          <p:nvPr/>
        </p:nvSpPr>
        <p:spPr>
          <a:xfrm>
            <a:off x="822960" y="2121480"/>
            <a:ext cx="310680" cy="310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50" spc="-1" strike="noStrike">
                <a:solidFill>
                  <a:srgbClr val="121d33"/>
                </a:solidFill>
                <a:latin typeface="Calibri"/>
                <a:ea typeface="Calibri"/>
              </a:rPr>
              <a:t>2</a:t>
            </a:r>
            <a:endParaRPr b="0" lang="en-US" sz="1250" spc="-1" strike="noStrike">
              <a:solidFill>
                <a:srgbClr val="ffffff"/>
              </a:solidFill>
              <a:latin typeface="Arial"/>
            </a:endParaRPr>
          </a:p>
        </p:txBody>
      </p:sp>
      <p:sp>
        <p:nvSpPr>
          <p:cNvPr id="102" name="Text 27"/>
          <p:cNvSpPr/>
          <p:nvPr/>
        </p:nvSpPr>
        <p:spPr>
          <a:xfrm>
            <a:off x="1353240" y="2011680"/>
            <a:ext cx="10012320" cy="776880"/>
          </a:xfrm>
          <a:prstGeom prst="rect">
            <a:avLst/>
          </a:prstGeom>
          <a:noFill/>
          <a:ln w="0">
            <a:no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103" name="Text 28"/>
          <p:cNvSpPr/>
          <p:nvPr/>
        </p:nvSpPr>
        <p:spPr>
          <a:xfrm>
            <a:off x="822960" y="2990160"/>
            <a:ext cx="310680" cy="310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50" spc="-1" strike="noStrike">
                <a:solidFill>
                  <a:srgbClr val="121d33"/>
                </a:solidFill>
                <a:latin typeface="Calibri"/>
                <a:ea typeface="Calibri"/>
              </a:rPr>
              <a:t>3</a:t>
            </a:r>
            <a:endParaRPr b="0" lang="en-US" sz="1250" spc="-1" strike="noStrike">
              <a:solidFill>
                <a:srgbClr val="ffffff"/>
              </a:solidFill>
              <a:latin typeface="Arial"/>
            </a:endParaRPr>
          </a:p>
        </p:txBody>
      </p:sp>
      <p:sp>
        <p:nvSpPr>
          <p:cNvPr id="104" name="Text 29"/>
          <p:cNvSpPr/>
          <p:nvPr/>
        </p:nvSpPr>
        <p:spPr>
          <a:xfrm>
            <a:off x="1353240" y="2880360"/>
            <a:ext cx="10012320" cy="776880"/>
          </a:xfrm>
          <a:prstGeom prst="rect">
            <a:avLst/>
          </a:prstGeom>
          <a:noFill/>
          <a:ln w="0">
            <a:no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105" name="Text 30"/>
          <p:cNvSpPr/>
          <p:nvPr/>
        </p:nvSpPr>
        <p:spPr>
          <a:xfrm>
            <a:off x="822960" y="3858840"/>
            <a:ext cx="310680" cy="310680"/>
          </a:xfrm>
          <a:prstGeom prst="rect">
            <a:avLst/>
          </a:prstGeom>
          <a:noFill/>
          <a:ln w="0">
            <a:no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106" name="Text 31"/>
          <p:cNvSpPr/>
          <p:nvPr/>
        </p:nvSpPr>
        <p:spPr>
          <a:xfrm>
            <a:off x="1353240" y="3749040"/>
            <a:ext cx="10012320" cy="776880"/>
          </a:xfrm>
          <a:prstGeom prst="rect">
            <a:avLst/>
          </a:prstGeom>
          <a:noFill/>
          <a:ln w="0">
            <a:no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107" name="Text 32"/>
          <p:cNvSpPr/>
          <p:nvPr/>
        </p:nvSpPr>
        <p:spPr>
          <a:xfrm>
            <a:off x="1353240" y="4617720"/>
            <a:ext cx="10012320" cy="776880"/>
          </a:xfrm>
          <a:prstGeom prst="rect">
            <a:avLst/>
          </a:prstGeom>
          <a:noFill/>
          <a:ln w="0">
            <a:no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108" name="Text 33"/>
          <p:cNvSpPr/>
          <p:nvPr/>
        </p:nvSpPr>
        <p:spPr>
          <a:xfrm>
            <a:off x="1353240" y="5486400"/>
            <a:ext cx="10012320" cy="776880"/>
          </a:xfrm>
          <a:prstGeom prst="rect">
            <a:avLst/>
          </a:prstGeom>
          <a:noFill/>
          <a:ln w="0">
            <a:no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109" name=""/>
          <p:cNvSpPr txBox="1"/>
          <p:nvPr/>
        </p:nvSpPr>
        <p:spPr>
          <a:xfrm>
            <a:off x="3657600" y="2514600"/>
            <a:ext cx="5257800" cy="1371600"/>
          </a:xfrm>
          <a:prstGeom prst="rect">
            <a:avLst/>
          </a:prstGeom>
          <a:noFill/>
          <a:ln w="0">
            <a:noFill/>
          </a:ln>
        </p:spPr>
        <p:txBody>
          <a:bodyPr lIns="90000" rIns="90000" tIns="45000" bIns="45000" anchor="t">
            <a:noAutofit/>
          </a:bodyPr>
          <a:p>
            <a:r>
              <a:rPr b="1" lang="en-US" sz="1800" spc="-1" strike="noStrike">
                <a:solidFill>
                  <a:srgbClr val="ffffff"/>
                </a:solidFill>
                <a:latin typeface="Arial"/>
              </a:rPr>
              <a:t>Thank You</a:t>
            </a:r>
            <a:endParaRPr b="1"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195</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2026-08-13T05:33:05Z</dcterms:created>
  <dc:creator>PptxGenJS</dc:creator>
  <dc:description/>
  <dc:language>en-US</dc:language>
  <cp:lastModifiedBy/>
  <dcterms:modified xsi:type="dcterms:W3CDTF">2026-08-13T14:38:36Z</dcterms:modified>
  <cp:revision>4</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(16:9)</vt:lpwstr>
  </property>
  <property fmtid="{D5CDD505-2E9C-101B-9397-08002B2CF9AE}" pid="4" name="Slides">
    <vt:i4>11</vt:i4>
  </property>
</Properties>
</file>